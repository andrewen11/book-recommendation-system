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5" r:id="rId1"/>
    <p:sldMasterId id="2147483668" r:id="rId2"/>
  </p:sldMasterIdLst>
  <p:notesMasterIdLst>
    <p:notesMasterId r:id="rId17"/>
  </p:notesMasterIdLst>
  <p:sldIdLst>
    <p:sldId id="356" r:id="rId3"/>
    <p:sldId id="349" r:id="rId4"/>
    <p:sldId id="350" r:id="rId5"/>
    <p:sldId id="362" r:id="rId6"/>
    <p:sldId id="351" r:id="rId7"/>
    <p:sldId id="357" r:id="rId8"/>
    <p:sldId id="353" r:id="rId9"/>
    <p:sldId id="358" r:id="rId10"/>
    <p:sldId id="352" r:id="rId11"/>
    <p:sldId id="359" r:id="rId12"/>
    <p:sldId id="360" r:id="rId13"/>
    <p:sldId id="361" r:id="rId14"/>
    <p:sldId id="354" r:id="rId15"/>
    <p:sldId id="3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CBE0"/>
    <a:srgbClr val="17406D"/>
    <a:srgbClr val="19686B"/>
    <a:srgbClr val="CD7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4604" autoAdjust="0"/>
  </p:normalViewPr>
  <p:slideViewPr>
    <p:cSldViewPr snapToGrid="0">
      <p:cViewPr>
        <p:scale>
          <a:sx n="75" d="100"/>
          <a:sy n="75" d="100"/>
        </p:scale>
        <p:origin x="1080" y="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5E78B-FE7C-474B-AC91-ABC1B62969E2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0B4EB-D9F6-4F2F-973A-15D71B3F5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68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490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828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314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084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425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381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8514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6660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781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68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683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F2C5EE-4C2D-8596-1A01-0A4DDDCAC2D9}"/>
              </a:ext>
            </a:extLst>
          </p:cNvPr>
          <p:cNvSpPr/>
          <p:nvPr userDrawn="1"/>
        </p:nvSpPr>
        <p:spPr>
          <a:xfrm>
            <a:off x="0" y="0"/>
            <a:ext cx="8770513" cy="6858000"/>
          </a:xfrm>
          <a:prstGeom prst="rect">
            <a:avLst/>
          </a:prstGeom>
          <a:gradFill>
            <a:gsLst>
              <a:gs pos="2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2A6FDFB-46FD-4D32-A054-BC9C55F6A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290599"/>
            <a:ext cx="4944414" cy="1811792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1F0D0AA-12EA-49AC-BF55-4B2556467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194466"/>
            <a:ext cx="4944415" cy="98084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D611355A-2485-4AA5-91FA-EA5F3157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64A10338-DE30-4CA9-A21B-D50D6579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49D5EB62-2B81-475B-92EC-DEB93DC3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7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A24F26-F262-4530-CBD4-5224FEADA097}"/>
              </a:ext>
            </a:extLst>
          </p:cNvPr>
          <p:cNvSpPr/>
          <p:nvPr userDrawn="1"/>
        </p:nvSpPr>
        <p:spPr>
          <a:xfrm rot="10800000">
            <a:off x="3421487" y="0"/>
            <a:ext cx="8770513" cy="6858000"/>
          </a:xfrm>
          <a:prstGeom prst="rect">
            <a:avLst/>
          </a:prstGeom>
          <a:gradFill>
            <a:gsLst>
              <a:gs pos="2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367" y="365125"/>
            <a:ext cx="6395434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89DC5E6-DDCD-4B67-B47F-0BD6C54B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367" y="1825625"/>
            <a:ext cx="6395434" cy="4351338"/>
          </a:xfrm>
        </p:spPr>
        <p:txBody>
          <a:bodyPr/>
          <a:lstStyle>
            <a:lvl1pPr algn="r"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algn="r"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algn="r"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algn="r"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algn="r"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68C53B7-7FCD-400A-9752-7BFFD8BB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0C428BE-FED7-45A5-9425-7445C51F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18FDE52B-46E4-490F-8D9A-1A96457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29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839359-70DB-7BE8-02B0-B98773E73399}"/>
              </a:ext>
            </a:extLst>
          </p:cNvPr>
          <p:cNvSpPr/>
          <p:nvPr userDrawn="1"/>
        </p:nvSpPr>
        <p:spPr>
          <a:xfrm>
            <a:off x="0" y="0"/>
            <a:ext cx="8770513" cy="6858000"/>
          </a:xfrm>
          <a:prstGeom prst="rect">
            <a:avLst/>
          </a:prstGeom>
          <a:gradFill>
            <a:gsLst>
              <a:gs pos="2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888851-8419-4D40-B1E3-9D279F24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7421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CCD0F33-6122-4DA2-AA9D-CA48CEFB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4216" cy="4351338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A8A3FA1-377F-4383-B7E8-14D9409A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66F5CF8-699B-4A09-9AD0-718B0175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C55771C-35B2-4842-A572-EEE14A72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4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95B6B9-C34E-9219-1A61-98AFB62FDA1A}"/>
              </a:ext>
            </a:extLst>
          </p:cNvPr>
          <p:cNvSpPr/>
          <p:nvPr userDrawn="1"/>
        </p:nvSpPr>
        <p:spPr>
          <a:xfrm rot="10800000">
            <a:off x="3421487" y="0"/>
            <a:ext cx="8770513" cy="6858000"/>
          </a:xfrm>
          <a:prstGeom prst="rect">
            <a:avLst/>
          </a:prstGeom>
          <a:gradFill>
            <a:gsLst>
              <a:gs pos="2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7E228BF-1CA5-4856-ADE1-3CF4E847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2462" y="2478193"/>
            <a:ext cx="5661338" cy="1901614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5560DB-B208-41C1-AC26-ACACF8AE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2462" y="4406795"/>
            <a:ext cx="5661338" cy="632663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8CD13F7-FE5E-4564-955B-78635E1D6B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EC6B85-2D6C-4E54-AFB1-FC9C8C5BC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0A08B1B-1C08-468B-84FB-AF1608C8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32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3AE248-506E-79A1-CB76-F24493690586}"/>
              </a:ext>
            </a:extLst>
          </p:cNvPr>
          <p:cNvSpPr/>
          <p:nvPr userDrawn="1"/>
        </p:nvSpPr>
        <p:spPr>
          <a:xfrm>
            <a:off x="0" y="0"/>
            <a:ext cx="8770513" cy="6858000"/>
          </a:xfrm>
          <a:prstGeom prst="rect">
            <a:avLst/>
          </a:prstGeom>
          <a:gradFill>
            <a:gsLst>
              <a:gs pos="22000">
                <a:schemeClr val="bg1"/>
              </a:gs>
              <a:gs pos="75000">
                <a:schemeClr val="bg1">
                  <a:alpha val="0"/>
                </a:schemeClr>
              </a:gs>
            </a:gsLst>
            <a:lin ang="198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4985E82-8BBB-4140-ADE7-3211B76C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0022"/>
            <a:ext cx="6631546" cy="1905718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E5281E8-502B-4754-B5F5-7C62E1101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2956673"/>
            <a:ext cx="6631546" cy="80717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67E5779-2729-4DED-A8C2-41F4FEE4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BD21987-FA22-47F7-B702-8D9638C10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03F40A7-0F3F-41D6-9058-1BE8DB270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611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272BA3-B6DA-CBD6-9003-75B275C536C4}"/>
              </a:ext>
            </a:extLst>
          </p:cNvPr>
          <p:cNvSpPr/>
          <p:nvPr userDrawn="1"/>
        </p:nvSpPr>
        <p:spPr>
          <a:xfrm rot="10800000">
            <a:off x="3421487" y="0"/>
            <a:ext cx="8770513" cy="6858000"/>
          </a:xfrm>
          <a:prstGeom prst="rect">
            <a:avLst/>
          </a:prstGeom>
          <a:gradFill>
            <a:gsLst>
              <a:gs pos="2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907DC5D-4F3E-4A99-A621-6F93F322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861900"/>
            <a:ext cx="5257800" cy="1917246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DA8F992-7750-4566-AB4F-B2E8F379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806134"/>
            <a:ext cx="5257800" cy="894217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FEC4993-EF72-4ADC-8D11-1EB7C940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145FAD1-5607-4570-9675-FE2648149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65FB8DD-A34F-4C06-9929-1E68FACD4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33CC49E4-6647-47F5-895A-9CFC416CE1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6677" y="745355"/>
            <a:ext cx="1333500" cy="13335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537F86F-E8D6-44FF-939F-7EB5A4693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51999" y="1028157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17C97F11-0CC0-4E01-8422-6143830432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51999" y="1255490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22609FE-C556-4394-9CD9-CACD20BC72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51999" y="1482823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val="376767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and Typ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BB3FC47E-3339-49A8-AEF2-ECC3BF1514FB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838199" y="3709150"/>
            <a:ext cx="10515600" cy="13258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400" b="1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9D5438-3BC8-4817-9C86-A9AAA6047492}"/>
              </a:ext>
            </a:extLst>
          </p:cNvPr>
          <p:cNvSpPr txBox="1"/>
          <p:nvPr userDrawn="1"/>
        </p:nvSpPr>
        <p:spPr>
          <a:xfrm>
            <a:off x="4677206" y="4033186"/>
            <a:ext cx="24352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tx2"/>
                </a:solidFill>
              </a:rPr>
              <a:t>Aa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676EAA04-3941-4EEF-875A-DA2DBBB0CA8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697757" y="6124726"/>
            <a:ext cx="2394180" cy="56499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Font name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3EB5F3B-07D6-987A-83F3-77AA6CE35EA6}"/>
              </a:ext>
            </a:extLst>
          </p:cNvPr>
          <p:cNvGrpSpPr/>
          <p:nvPr userDrawn="1"/>
        </p:nvGrpSpPr>
        <p:grpSpPr>
          <a:xfrm>
            <a:off x="838199" y="1830763"/>
            <a:ext cx="10515601" cy="1741127"/>
            <a:chOff x="838199" y="1830763"/>
            <a:chExt cx="10515601" cy="174112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3FE5719-4643-BC08-9A1D-207EC889FB5F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74112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96A451C-6E32-20E6-E1AE-B84CE112D24C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55130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74EEC4-725F-F79E-C571-0EFC83CEE6BF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36148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40288EC-1F91-3B8A-51B0-0F549384077B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171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62B4F8-A5AA-9570-7094-D69F07FE3476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9818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D7DCC1C-5A23-2EA8-AF0E-964D223728D3}"/>
                </a:ext>
              </a:extLst>
            </p:cNvPr>
            <p:cNvSpPr/>
            <p:nvPr userDrawn="1"/>
          </p:nvSpPr>
          <p:spPr>
            <a:xfrm>
              <a:off x="838200" y="1830763"/>
              <a:ext cx="894312" cy="7882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C1B91F5-6BA2-92B0-2104-2D872A99EE10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741127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63618A-B7E5-9ADB-49A0-281E39DC9216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551307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FAF5FC-0CC3-C50B-DEAF-CBE245043C20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36148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88592DA-F40C-ADE6-FA4B-A9F6A884D4BB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17166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BAA839F-1132-74BD-8482-EF0FC3D274F2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98184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DC5A100-5BAB-C033-5030-4BB54BAC1B70}"/>
                </a:ext>
              </a:extLst>
            </p:cNvPr>
            <p:cNvSpPr/>
            <p:nvPr userDrawn="1"/>
          </p:nvSpPr>
          <p:spPr>
            <a:xfrm>
              <a:off x="1907232" y="1830763"/>
              <a:ext cx="894312" cy="78825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2D11245-FEDE-132A-FDEA-878C10C6E58A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741127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4147983-1EFF-9822-CF9D-CA8B0AC52A2D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55130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0A461E6-53CB-9FEC-F790-FDA76F9E84B7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36148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6FE9E42-E99F-5208-087E-B1EADFF5E144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17166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12B60F-03BA-B953-84BA-2FF01C1422EC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98184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9F816CD-CDC8-D28E-3C10-8FC72CAD1666}"/>
                </a:ext>
              </a:extLst>
            </p:cNvPr>
            <p:cNvSpPr/>
            <p:nvPr userDrawn="1"/>
          </p:nvSpPr>
          <p:spPr>
            <a:xfrm>
              <a:off x="2976264" y="1830763"/>
              <a:ext cx="894312" cy="7882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39B8DDC-08F5-6A3A-4359-002B76930DA6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741127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9ED2822-9A18-64E3-1F66-545C3ACD92C5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55130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EF5983C-E8F7-0B1B-A3F5-BD15E0D90739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36148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D1F6F17-B9D2-2136-1495-21AFF1FAA25C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17166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1E71467-50DA-CBE8-1795-0AFF5546B35B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98184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57F11DB-3813-32FE-5E52-EC5E31F9D042}"/>
                </a:ext>
              </a:extLst>
            </p:cNvPr>
            <p:cNvSpPr/>
            <p:nvPr userDrawn="1"/>
          </p:nvSpPr>
          <p:spPr>
            <a:xfrm>
              <a:off x="4045296" y="1830763"/>
              <a:ext cx="894312" cy="78825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9DEC3B4-7135-2B8C-4A25-D5B074CAF7F4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74112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91B5094-BF4F-F5D9-D706-663E5066EFB0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55130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B05EE87-2C05-3929-1B0D-81721083A491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3614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86BB421-3B17-0D2C-82D7-2F5C1E94B58D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1716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8279E39-3ADF-6351-0503-E17467E9CFDC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9818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6A43882-74BB-1FE0-462A-40B8415600BF}"/>
                </a:ext>
              </a:extLst>
            </p:cNvPr>
            <p:cNvSpPr/>
            <p:nvPr userDrawn="1"/>
          </p:nvSpPr>
          <p:spPr>
            <a:xfrm>
              <a:off x="5114328" y="1830763"/>
              <a:ext cx="894312" cy="7882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0543546-54D6-3431-0564-5902E8DB1C4A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74112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771CF00-E559-4939-0C5C-6029706B0520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5513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3C16F5D-C6E3-9B6E-D1B6-F62614C35D92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36148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F4D112-CB01-CF59-8430-F75F80781378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17166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A17DA56-0D92-3BC3-EF85-C1DF0D423551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98184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B951B11-1CD3-F9D9-C2EE-A5CD4511AC24}"/>
                </a:ext>
              </a:extLst>
            </p:cNvPr>
            <p:cNvSpPr/>
            <p:nvPr userDrawn="1"/>
          </p:nvSpPr>
          <p:spPr>
            <a:xfrm>
              <a:off x="6183360" y="1830763"/>
              <a:ext cx="894312" cy="7882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9B7E692-B05C-1A0A-C151-EE1F5F07128D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741127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BA3B5A1-9A40-0262-A535-5CB9A05890E3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55130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E6076E-90FB-6C65-6F2B-F38FE88C66C0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36148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B8C860C-977E-6A29-15BD-E059910AF1EC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17166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E2C8704-577B-AC09-8779-77CF0742484F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98184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F81E068-A250-68DE-5DF6-F3FCFCFCF007}"/>
                </a:ext>
              </a:extLst>
            </p:cNvPr>
            <p:cNvSpPr/>
            <p:nvPr userDrawn="1"/>
          </p:nvSpPr>
          <p:spPr>
            <a:xfrm>
              <a:off x="7252392" y="1830763"/>
              <a:ext cx="894312" cy="7882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DF3818F-2640-2ED7-961A-951EA316185A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74112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029EB4D-25A7-CA3E-732A-596BEBD7587E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55130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93E102F-E6DF-6C99-DBFF-9B228588E809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36148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3268F72-310D-35B7-FFF9-EA12A9C07D4C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17166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733CEC-58B4-7E00-3A98-B110F7B7436D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98184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C37928F-4A45-4542-D712-6682D9D7BCA9}"/>
                </a:ext>
              </a:extLst>
            </p:cNvPr>
            <p:cNvSpPr/>
            <p:nvPr userDrawn="1"/>
          </p:nvSpPr>
          <p:spPr>
            <a:xfrm>
              <a:off x="8321424" y="1830763"/>
              <a:ext cx="894312" cy="7882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9F2A479-EAEE-483D-0349-54259FACE244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741127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B63B982-726E-ED4E-C0B6-179C216931EA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5513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661538D-30AA-04AD-F978-748F557FE1F1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36148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8A4C24E-24F5-8A11-88B6-256D8C15FC24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17166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AF3B72E-5CBE-03F9-0459-0E5C5796F8EE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98184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D009624-22D5-0C56-BB39-1BCED26EBBA2}"/>
                </a:ext>
              </a:extLst>
            </p:cNvPr>
            <p:cNvSpPr/>
            <p:nvPr userDrawn="1"/>
          </p:nvSpPr>
          <p:spPr>
            <a:xfrm>
              <a:off x="9390456" y="1830763"/>
              <a:ext cx="894312" cy="78825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4DC666F-8B9C-DDC7-2890-A13ADD7D77BF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741127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B9476D3-29E0-1B9B-6162-71EC536E4E4D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55130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3FAAF00-AF83-EAAF-4C0D-14B6A13A09B3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36148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AC465FF-C7B6-0AA2-847B-C8E238247C13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17166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6B47C9C-5346-80A8-C75F-95BBA94AE4D4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98184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F576974-50D2-9663-0A46-4A98FEB2D968}"/>
                </a:ext>
              </a:extLst>
            </p:cNvPr>
            <p:cNvSpPr/>
            <p:nvPr userDrawn="1"/>
          </p:nvSpPr>
          <p:spPr>
            <a:xfrm>
              <a:off x="10459487" y="1830763"/>
              <a:ext cx="894312" cy="78825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375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30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22179-180A-4469-AEA6-3524E2ED3C3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6B2EA-1156-4AFC-B63C-689ADD66F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190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F0C052-A5D5-A3A7-5015-B8AD6BFA38B5}"/>
              </a:ext>
            </a:extLst>
          </p:cNvPr>
          <p:cNvSpPr txBox="1"/>
          <p:nvPr userDrawn="1"/>
        </p:nvSpPr>
        <p:spPr>
          <a:xfrm>
            <a:off x="667330" y="550033"/>
            <a:ext cx="2065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alpha val="40157"/>
                  </a:schemeClr>
                </a:solidFill>
                <a:latin typeface="+mj-lt"/>
              </a:rPr>
              <a:t>Designed</a:t>
            </a:r>
            <a:r>
              <a:rPr lang="en-US" dirty="0">
                <a:solidFill>
                  <a:schemeClr val="bg1">
                    <a:alpha val="40157"/>
                  </a:schemeClr>
                </a:solidFill>
              </a:rPr>
              <a:t> with      by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BDC3D9-4956-070F-F72D-978CD8717498}"/>
              </a:ext>
            </a:extLst>
          </p:cNvPr>
          <p:cNvGrpSpPr/>
          <p:nvPr userDrawn="1"/>
        </p:nvGrpSpPr>
        <p:grpSpPr>
          <a:xfrm>
            <a:off x="757647" y="1021854"/>
            <a:ext cx="5325710" cy="549583"/>
            <a:chOff x="757647" y="1021854"/>
            <a:chExt cx="5325710" cy="549583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F1B15682-086B-6549-3383-789D334FDAC4}"/>
                </a:ext>
              </a:extLst>
            </p:cNvPr>
            <p:cNvSpPr/>
            <p:nvPr userDrawn="1"/>
          </p:nvSpPr>
          <p:spPr>
            <a:xfrm>
              <a:off x="757647" y="1022945"/>
              <a:ext cx="4193833" cy="548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662"/>
                  </a:moveTo>
                  <a:lnTo>
                    <a:pt x="882" y="2662"/>
                  </a:lnTo>
                  <a:cubicBezTo>
                    <a:pt x="1028" y="2662"/>
                    <a:pt x="1163" y="2791"/>
                    <a:pt x="1280" y="3049"/>
                  </a:cubicBezTo>
                  <a:cubicBezTo>
                    <a:pt x="1398" y="3307"/>
                    <a:pt x="1500" y="3693"/>
                    <a:pt x="1584" y="4165"/>
                  </a:cubicBezTo>
                  <a:cubicBezTo>
                    <a:pt x="1668" y="4638"/>
                    <a:pt x="1730" y="5239"/>
                    <a:pt x="1775" y="5969"/>
                  </a:cubicBezTo>
                  <a:cubicBezTo>
                    <a:pt x="1820" y="6656"/>
                    <a:pt x="1842" y="7472"/>
                    <a:pt x="1842" y="8374"/>
                  </a:cubicBezTo>
                  <a:cubicBezTo>
                    <a:pt x="1842" y="9447"/>
                    <a:pt x="1814" y="10392"/>
                    <a:pt x="1763" y="11165"/>
                  </a:cubicBezTo>
                  <a:cubicBezTo>
                    <a:pt x="1707" y="11938"/>
                    <a:pt x="1634" y="12625"/>
                    <a:pt x="1544" y="13140"/>
                  </a:cubicBezTo>
                  <a:cubicBezTo>
                    <a:pt x="1455" y="13656"/>
                    <a:pt x="1348" y="14042"/>
                    <a:pt x="1224" y="14300"/>
                  </a:cubicBezTo>
                  <a:cubicBezTo>
                    <a:pt x="1101" y="14557"/>
                    <a:pt x="972" y="14686"/>
                    <a:pt x="837" y="14686"/>
                  </a:cubicBezTo>
                  <a:lnTo>
                    <a:pt x="590" y="14686"/>
                  </a:lnTo>
                  <a:lnTo>
                    <a:pt x="590" y="21299"/>
                  </a:lnTo>
                  <a:lnTo>
                    <a:pt x="0" y="21299"/>
                  </a:lnTo>
                  <a:lnTo>
                    <a:pt x="0" y="2662"/>
                  </a:lnTo>
                  <a:close/>
                  <a:moveTo>
                    <a:pt x="584" y="11251"/>
                  </a:moveTo>
                  <a:lnTo>
                    <a:pt x="798" y="11251"/>
                  </a:lnTo>
                  <a:cubicBezTo>
                    <a:pt x="854" y="11251"/>
                    <a:pt x="910" y="11208"/>
                    <a:pt x="966" y="11122"/>
                  </a:cubicBezTo>
                  <a:cubicBezTo>
                    <a:pt x="1022" y="11036"/>
                    <a:pt x="1067" y="10864"/>
                    <a:pt x="1106" y="10650"/>
                  </a:cubicBezTo>
                  <a:cubicBezTo>
                    <a:pt x="1146" y="10435"/>
                    <a:pt x="1179" y="10177"/>
                    <a:pt x="1202" y="9834"/>
                  </a:cubicBezTo>
                  <a:cubicBezTo>
                    <a:pt x="1224" y="9490"/>
                    <a:pt x="1241" y="9104"/>
                    <a:pt x="1241" y="8588"/>
                  </a:cubicBezTo>
                  <a:cubicBezTo>
                    <a:pt x="1241" y="7730"/>
                    <a:pt x="1202" y="7085"/>
                    <a:pt x="1129" y="6656"/>
                  </a:cubicBezTo>
                  <a:cubicBezTo>
                    <a:pt x="1050" y="6227"/>
                    <a:pt x="955" y="6012"/>
                    <a:pt x="826" y="6012"/>
                  </a:cubicBezTo>
                  <a:lnTo>
                    <a:pt x="590" y="6012"/>
                  </a:lnTo>
                  <a:lnTo>
                    <a:pt x="590" y="11251"/>
                  </a:lnTo>
                  <a:close/>
                  <a:moveTo>
                    <a:pt x="2179" y="21256"/>
                  </a:moveTo>
                  <a:lnTo>
                    <a:pt x="2179" y="7085"/>
                  </a:lnTo>
                  <a:lnTo>
                    <a:pt x="2628" y="7085"/>
                  </a:lnTo>
                  <a:lnTo>
                    <a:pt x="2685" y="9576"/>
                  </a:lnTo>
                  <a:cubicBezTo>
                    <a:pt x="2707" y="9233"/>
                    <a:pt x="2735" y="8889"/>
                    <a:pt x="2769" y="8546"/>
                  </a:cubicBezTo>
                  <a:cubicBezTo>
                    <a:pt x="2802" y="8202"/>
                    <a:pt x="2842" y="7901"/>
                    <a:pt x="2887" y="7644"/>
                  </a:cubicBezTo>
                  <a:cubicBezTo>
                    <a:pt x="2932" y="7386"/>
                    <a:pt x="2988" y="7171"/>
                    <a:pt x="3044" y="7043"/>
                  </a:cubicBezTo>
                  <a:cubicBezTo>
                    <a:pt x="3106" y="6871"/>
                    <a:pt x="3173" y="6828"/>
                    <a:pt x="3246" y="6828"/>
                  </a:cubicBezTo>
                  <a:cubicBezTo>
                    <a:pt x="3302" y="6828"/>
                    <a:pt x="3353" y="6871"/>
                    <a:pt x="3403" y="7000"/>
                  </a:cubicBezTo>
                  <a:cubicBezTo>
                    <a:pt x="3448" y="7128"/>
                    <a:pt x="3488" y="7214"/>
                    <a:pt x="3516" y="7386"/>
                  </a:cubicBezTo>
                  <a:lnTo>
                    <a:pt x="3426" y="10779"/>
                  </a:lnTo>
                  <a:cubicBezTo>
                    <a:pt x="3398" y="10650"/>
                    <a:pt x="3364" y="10564"/>
                    <a:pt x="3319" y="10435"/>
                  </a:cubicBezTo>
                  <a:cubicBezTo>
                    <a:pt x="3274" y="10349"/>
                    <a:pt x="3224" y="10306"/>
                    <a:pt x="3156" y="10306"/>
                  </a:cubicBezTo>
                  <a:cubicBezTo>
                    <a:pt x="3038" y="10306"/>
                    <a:pt x="2937" y="10607"/>
                    <a:pt x="2859" y="11208"/>
                  </a:cubicBezTo>
                  <a:cubicBezTo>
                    <a:pt x="2780" y="11809"/>
                    <a:pt x="2741" y="12840"/>
                    <a:pt x="2741" y="14257"/>
                  </a:cubicBezTo>
                  <a:lnTo>
                    <a:pt x="2741" y="21342"/>
                  </a:lnTo>
                  <a:lnTo>
                    <a:pt x="2179" y="21342"/>
                  </a:lnTo>
                  <a:close/>
                  <a:moveTo>
                    <a:pt x="5279" y="15416"/>
                  </a:moveTo>
                  <a:lnTo>
                    <a:pt x="4083" y="15416"/>
                  </a:lnTo>
                  <a:lnTo>
                    <a:pt x="4083" y="15545"/>
                  </a:lnTo>
                  <a:cubicBezTo>
                    <a:pt x="4083" y="16533"/>
                    <a:pt x="4134" y="17263"/>
                    <a:pt x="4235" y="17692"/>
                  </a:cubicBezTo>
                  <a:cubicBezTo>
                    <a:pt x="4336" y="18165"/>
                    <a:pt x="4459" y="18379"/>
                    <a:pt x="4611" y="18379"/>
                  </a:cubicBezTo>
                  <a:cubicBezTo>
                    <a:pt x="4718" y="18379"/>
                    <a:pt x="4807" y="18293"/>
                    <a:pt x="4886" y="18165"/>
                  </a:cubicBezTo>
                  <a:cubicBezTo>
                    <a:pt x="4965" y="17993"/>
                    <a:pt x="5032" y="17821"/>
                    <a:pt x="5088" y="17606"/>
                  </a:cubicBezTo>
                  <a:lnTo>
                    <a:pt x="5195" y="20612"/>
                  </a:lnTo>
                  <a:cubicBezTo>
                    <a:pt x="5128" y="20870"/>
                    <a:pt x="5038" y="21085"/>
                    <a:pt x="4931" y="21299"/>
                  </a:cubicBezTo>
                  <a:cubicBezTo>
                    <a:pt x="4824" y="21514"/>
                    <a:pt x="4695" y="21600"/>
                    <a:pt x="4538" y="21600"/>
                  </a:cubicBezTo>
                  <a:cubicBezTo>
                    <a:pt x="4398" y="21600"/>
                    <a:pt x="4268" y="21471"/>
                    <a:pt x="4145" y="21171"/>
                  </a:cubicBezTo>
                  <a:cubicBezTo>
                    <a:pt x="4021" y="20870"/>
                    <a:pt x="3909" y="20441"/>
                    <a:pt x="3819" y="19839"/>
                  </a:cubicBezTo>
                  <a:cubicBezTo>
                    <a:pt x="3724" y="19238"/>
                    <a:pt x="3651" y="18508"/>
                    <a:pt x="3594" y="17606"/>
                  </a:cubicBezTo>
                  <a:cubicBezTo>
                    <a:pt x="3538" y="16705"/>
                    <a:pt x="3510" y="15631"/>
                    <a:pt x="3510" y="14343"/>
                  </a:cubicBezTo>
                  <a:cubicBezTo>
                    <a:pt x="3510" y="13226"/>
                    <a:pt x="3533" y="12196"/>
                    <a:pt x="3578" y="11251"/>
                  </a:cubicBezTo>
                  <a:cubicBezTo>
                    <a:pt x="3622" y="10306"/>
                    <a:pt x="3684" y="9533"/>
                    <a:pt x="3768" y="8846"/>
                  </a:cubicBezTo>
                  <a:cubicBezTo>
                    <a:pt x="3853" y="8159"/>
                    <a:pt x="3948" y="7644"/>
                    <a:pt x="4066" y="7300"/>
                  </a:cubicBezTo>
                  <a:cubicBezTo>
                    <a:pt x="4178" y="6957"/>
                    <a:pt x="4308" y="6742"/>
                    <a:pt x="4448" y="6742"/>
                  </a:cubicBezTo>
                  <a:cubicBezTo>
                    <a:pt x="4701" y="6742"/>
                    <a:pt x="4903" y="7343"/>
                    <a:pt x="5060" y="8503"/>
                  </a:cubicBezTo>
                  <a:cubicBezTo>
                    <a:pt x="5212" y="9662"/>
                    <a:pt x="5290" y="11380"/>
                    <a:pt x="5290" y="13527"/>
                  </a:cubicBezTo>
                  <a:lnTo>
                    <a:pt x="5290" y="15416"/>
                  </a:lnTo>
                  <a:close/>
                  <a:moveTo>
                    <a:pt x="4695" y="12453"/>
                  </a:moveTo>
                  <a:cubicBezTo>
                    <a:pt x="4695" y="12110"/>
                    <a:pt x="4690" y="11809"/>
                    <a:pt x="4678" y="11466"/>
                  </a:cubicBezTo>
                  <a:cubicBezTo>
                    <a:pt x="4667" y="11165"/>
                    <a:pt x="4650" y="10864"/>
                    <a:pt x="4628" y="10607"/>
                  </a:cubicBezTo>
                  <a:cubicBezTo>
                    <a:pt x="4605" y="10349"/>
                    <a:pt x="4577" y="10177"/>
                    <a:pt x="4544" y="10006"/>
                  </a:cubicBezTo>
                  <a:cubicBezTo>
                    <a:pt x="4510" y="9877"/>
                    <a:pt x="4465" y="9791"/>
                    <a:pt x="4420" y="9791"/>
                  </a:cubicBezTo>
                  <a:cubicBezTo>
                    <a:pt x="4330" y="9791"/>
                    <a:pt x="4257" y="10049"/>
                    <a:pt x="4195" y="10521"/>
                  </a:cubicBezTo>
                  <a:cubicBezTo>
                    <a:pt x="4134" y="10993"/>
                    <a:pt x="4100" y="11637"/>
                    <a:pt x="4089" y="12496"/>
                  </a:cubicBezTo>
                  <a:lnTo>
                    <a:pt x="4695" y="12453"/>
                  </a:lnTo>
                  <a:close/>
                  <a:moveTo>
                    <a:pt x="6773" y="10693"/>
                  </a:moveTo>
                  <a:cubicBezTo>
                    <a:pt x="6706" y="10435"/>
                    <a:pt x="6633" y="10220"/>
                    <a:pt x="6554" y="10091"/>
                  </a:cubicBezTo>
                  <a:cubicBezTo>
                    <a:pt x="6476" y="9963"/>
                    <a:pt x="6402" y="9877"/>
                    <a:pt x="6329" y="9877"/>
                  </a:cubicBezTo>
                  <a:cubicBezTo>
                    <a:pt x="6262" y="9877"/>
                    <a:pt x="6206" y="9963"/>
                    <a:pt x="6167" y="10134"/>
                  </a:cubicBezTo>
                  <a:cubicBezTo>
                    <a:pt x="6127" y="10306"/>
                    <a:pt x="6105" y="10564"/>
                    <a:pt x="6105" y="10864"/>
                  </a:cubicBezTo>
                  <a:cubicBezTo>
                    <a:pt x="6105" y="11208"/>
                    <a:pt x="6127" y="11466"/>
                    <a:pt x="6167" y="11723"/>
                  </a:cubicBezTo>
                  <a:cubicBezTo>
                    <a:pt x="6206" y="11938"/>
                    <a:pt x="6285" y="12196"/>
                    <a:pt x="6402" y="12453"/>
                  </a:cubicBezTo>
                  <a:lnTo>
                    <a:pt x="6520" y="12711"/>
                  </a:lnTo>
                  <a:cubicBezTo>
                    <a:pt x="6672" y="13054"/>
                    <a:pt x="6790" y="13570"/>
                    <a:pt x="6869" y="14257"/>
                  </a:cubicBezTo>
                  <a:cubicBezTo>
                    <a:pt x="6947" y="14944"/>
                    <a:pt x="6987" y="15803"/>
                    <a:pt x="6987" y="16876"/>
                  </a:cubicBezTo>
                  <a:cubicBezTo>
                    <a:pt x="6987" y="17563"/>
                    <a:pt x="6970" y="18208"/>
                    <a:pt x="6930" y="18809"/>
                  </a:cubicBezTo>
                  <a:cubicBezTo>
                    <a:pt x="6891" y="19410"/>
                    <a:pt x="6835" y="19882"/>
                    <a:pt x="6768" y="20312"/>
                  </a:cubicBezTo>
                  <a:cubicBezTo>
                    <a:pt x="6695" y="20741"/>
                    <a:pt x="6610" y="21042"/>
                    <a:pt x="6515" y="21256"/>
                  </a:cubicBezTo>
                  <a:cubicBezTo>
                    <a:pt x="6414" y="21471"/>
                    <a:pt x="6307" y="21600"/>
                    <a:pt x="6183" y="21600"/>
                  </a:cubicBezTo>
                  <a:cubicBezTo>
                    <a:pt x="6054" y="21600"/>
                    <a:pt x="5936" y="21514"/>
                    <a:pt x="5835" y="21342"/>
                  </a:cubicBezTo>
                  <a:cubicBezTo>
                    <a:pt x="5734" y="21171"/>
                    <a:pt x="5639" y="20913"/>
                    <a:pt x="5554" y="20569"/>
                  </a:cubicBezTo>
                  <a:lnTo>
                    <a:pt x="5678" y="17435"/>
                  </a:lnTo>
                  <a:cubicBezTo>
                    <a:pt x="5751" y="17735"/>
                    <a:pt x="5830" y="17950"/>
                    <a:pt x="5914" y="18165"/>
                  </a:cubicBezTo>
                  <a:cubicBezTo>
                    <a:pt x="5993" y="18336"/>
                    <a:pt x="6077" y="18465"/>
                    <a:pt x="6161" y="18465"/>
                  </a:cubicBezTo>
                  <a:cubicBezTo>
                    <a:pt x="6256" y="18465"/>
                    <a:pt x="6329" y="18336"/>
                    <a:pt x="6369" y="18122"/>
                  </a:cubicBezTo>
                  <a:cubicBezTo>
                    <a:pt x="6408" y="17907"/>
                    <a:pt x="6431" y="17649"/>
                    <a:pt x="6431" y="17349"/>
                  </a:cubicBezTo>
                  <a:cubicBezTo>
                    <a:pt x="6431" y="17177"/>
                    <a:pt x="6425" y="17005"/>
                    <a:pt x="6419" y="16876"/>
                  </a:cubicBezTo>
                  <a:cubicBezTo>
                    <a:pt x="6408" y="16748"/>
                    <a:pt x="6397" y="16619"/>
                    <a:pt x="6369" y="16490"/>
                  </a:cubicBezTo>
                  <a:cubicBezTo>
                    <a:pt x="6346" y="16361"/>
                    <a:pt x="6313" y="16275"/>
                    <a:pt x="6268" y="16146"/>
                  </a:cubicBezTo>
                  <a:cubicBezTo>
                    <a:pt x="6223" y="16017"/>
                    <a:pt x="6172" y="15889"/>
                    <a:pt x="6105" y="15760"/>
                  </a:cubicBezTo>
                  <a:lnTo>
                    <a:pt x="5987" y="15502"/>
                  </a:lnTo>
                  <a:cubicBezTo>
                    <a:pt x="5835" y="15116"/>
                    <a:pt x="5723" y="14600"/>
                    <a:pt x="5656" y="13956"/>
                  </a:cubicBezTo>
                  <a:cubicBezTo>
                    <a:pt x="5588" y="13312"/>
                    <a:pt x="5549" y="12410"/>
                    <a:pt x="5549" y="11294"/>
                  </a:cubicBezTo>
                  <a:cubicBezTo>
                    <a:pt x="5549" y="10650"/>
                    <a:pt x="5566" y="10049"/>
                    <a:pt x="5599" y="9490"/>
                  </a:cubicBezTo>
                  <a:cubicBezTo>
                    <a:pt x="5633" y="8932"/>
                    <a:pt x="5684" y="8460"/>
                    <a:pt x="5745" y="8073"/>
                  </a:cubicBezTo>
                  <a:cubicBezTo>
                    <a:pt x="5807" y="7687"/>
                    <a:pt x="5886" y="7343"/>
                    <a:pt x="5976" y="7128"/>
                  </a:cubicBezTo>
                  <a:cubicBezTo>
                    <a:pt x="6066" y="6914"/>
                    <a:pt x="6172" y="6785"/>
                    <a:pt x="6290" y="6785"/>
                  </a:cubicBezTo>
                  <a:cubicBezTo>
                    <a:pt x="6408" y="6785"/>
                    <a:pt x="6520" y="6871"/>
                    <a:pt x="6622" y="7043"/>
                  </a:cubicBezTo>
                  <a:cubicBezTo>
                    <a:pt x="6723" y="7214"/>
                    <a:pt x="6812" y="7429"/>
                    <a:pt x="6897" y="7730"/>
                  </a:cubicBezTo>
                  <a:lnTo>
                    <a:pt x="6773" y="10693"/>
                  </a:lnTo>
                  <a:close/>
                  <a:moveTo>
                    <a:pt x="8992" y="15416"/>
                  </a:moveTo>
                  <a:lnTo>
                    <a:pt x="7795" y="15416"/>
                  </a:lnTo>
                  <a:lnTo>
                    <a:pt x="7795" y="15545"/>
                  </a:lnTo>
                  <a:cubicBezTo>
                    <a:pt x="7795" y="16533"/>
                    <a:pt x="7846" y="17263"/>
                    <a:pt x="7947" y="17692"/>
                  </a:cubicBezTo>
                  <a:cubicBezTo>
                    <a:pt x="8048" y="18165"/>
                    <a:pt x="8172" y="18379"/>
                    <a:pt x="8323" y="18379"/>
                  </a:cubicBezTo>
                  <a:cubicBezTo>
                    <a:pt x="8430" y="18379"/>
                    <a:pt x="8520" y="18293"/>
                    <a:pt x="8598" y="18165"/>
                  </a:cubicBezTo>
                  <a:cubicBezTo>
                    <a:pt x="8677" y="17993"/>
                    <a:pt x="8744" y="17821"/>
                    <a:pt x="8801" y="17606"/>
                  </a:cubicBezTo>
                  <a:lnTo>
                    <a:pt x="8907" y="20612"/>
                  </a:lnTo>
                  <a:cubicBezTo>
                    <a:pt x="8840" y="20870"/>
                    <a:pt x="8750" y="21085"/>
                    <a:pt x="8643" y="21299"/>
                  </a:cubicBezTo>
                  <a:cubicBezTo>
                    <a:pt x="8537" y="21514"/>
                    <a:pt x="8407" y="21600"/>
                    <a:pt x="8250" y="21600"/>
                  </a:cubicBezTo>
                  <a:cubicBezTo>
                    <a:pt x="8110" y="21600"/>
                    <a:pt x="7981" y="21471"/>
                    <a:pt x="7857" y="21171"/>
                  </a:cubicBezTo>
                  <a:cubicBezTo>
                    <a:pt x="7734" y="20870"/>
                    <a:pt x="7621" y="20441"/>
                    <a:pt x="7531" y="19839"/>
                  </a:cubicBezTo>
                  <a:cubicBezTo>
                    <a:pt x="7436" y="19238"/>
                    <a:pt x="7363" y="18508"/>
                    <a:pt x="7307" y="17606"/>
                  </a:cubicBezTo>
                  <a:cubicBezTo>
                    <a:pt x="7251" y="16705"/>
                    <a:pt x="7222" y="15631"/>
                    <a:pt x="7222" y="14343"/>
                  </a:cubicBezTo>
                  <a:cubicBezTo>
                    <a:pt x="7222" y="13226"/>
                    <a:pt x="7245" y="12196"/>
                    <a:pt x="7290" y="11251"/>
                  </a:cubicBezTo>
                  <a:cubicBezTo>
                    <a:pt x="7335" y="10306"/>
                    <a:pt x="7397" y="9533"/>
                    <a:pt x="7481" y="8846"/>
                  </a:cubicBezTo>
                  <a:cubicBezTo>
                    <a:pt x="7565" y="8159"/>
                    <a:pt x="7661" y="7644"/>
                    <a:pt x="7778" y="7300"/>
                  </a:cubicBezTo>
                  <a:cubicBezTo>
                    <a:pt x="7891" y="6957"/>
                    <a:pt x="8020" y="6742"/>
                    <a:pt x="8160" y="6742"/>
                  </a:cubicBezTo>
                  <a:cubicBezTo>
                    <a:pt x="8413" y="6742"/>
                    <a:pt x="8615" y="7343"/>
                    <a:pt x="8773" y="8503"/>
                  </a:cubicBezTo>
                  <a:cubicBezTo>
                    <a:pt x="8924" y="9662"/>
                    <a:pt x="9003" y="11380"/>
                    <a:pt x="9003" y="13527"/>
                  </a:cubicBezTo>
                  <a:lnTo>
                    <a:pt x="9003" y="15416"/>
                  </a:lnTo>
                  <a:close/>
                  <a:moveTo>
                    <a:pt x="8413" y="12453"/>
                  </a:moveTo>
                  <a:cubicBezTo>
                    <a:pt x="8413" y="12110"/>
                    <a:pt x="8407" y="11809"/>
                    <a:pt x="8396" y="11466"/>
                  </a:cubicBezTo>
                  <a:cubicBezTo>
                    <a:pt x="8385" y="11165"/>
                    <a:pt x="8368" y="10864"/>
                    <a:pt x="8346" y="10607"/>
                  </a:cubicBezTo>
                  <a:cubicBezTo>
                    <a:pt x="8323" y="10349"/>
                    <a:pt x="8295" y="10177"/>
                    <a:pt x="8261" y="10006"/>
                  </a:cubicBezTo>
                  <a:cubicBezTo>
                    <a:pt x="8228" y="9834"/>
                    <a:pt x="8183" y="9791"/>
                    <a:pt x="8138" y="9791"/>
                  </a:cubicBezTo>
                  <a:cubicBezTo>
                    <a:pt x="8048" y="9791"/>
                    <a:pt x="7975" y="10049"/>
                    <a:pt x="7913" y="10521"/>
                  </a:cubicBezTo>
                  <a:cubicBezTo>
                    <a:pt x="7851" y="10993"/>
                    <a:pt x="7818" y="11637"/>
                    <a:pt x="7807" y="12496"/>
                  </a:cubicBezTo>
                  <a:lnTo>
                    <a:pt x="8413" y="12453"/>
                  </a:lnTo>
                  <a:close/>
                  <a:moveTo>
                    <a:pt x="9913" y="21256"/>
                  </a:moveTo>
                  <a:lnTo>
                    <a:pt x="9340" y="21256"/>
                  </a:lnTo>
                  <a:lnTo>
                    <a:pt x="9340" y="7085"/>
                  </a:lnTo>
                  <a:lnTo>
                    <a:pt x="9783" y="7085"/>
                  </a:lnTo>
                  <a:lnTo>
                    <a:pt x="9851" y="8846"/>
                  </a:lnTo>
                  <a:cubicBezTo>
                    <a:pt x="9935" y="8202"/>
                    <a:pt x="10025" y="7687"/>
                    <a:pt x="10126" y="7300"/>
                  </a:cubicBezTo>
                  <a:cubicBezTo>
                    <a:pt x="10227" y="6914"/>
                    <a:pt x="10339" y="6742"/>
                    <a:pt x="10463" y="6742"/>
                  </a:cubicBezTo>
                  <a:cubicBezTo>
                    <a:pt x="10671" y="6742"/>
                    <a:pt x="10828" y="7171"/>
                    <a:pt x="10940" y="8030"/>
                  </a:cubicBezTo>
                  <a:cubicBezTo>
                    <a:pt x="11053" y="8889"/>
                    <a:pt x="11109" y="10177"/>
                    <a:pt x="11109" y="11852"/>
                  </a:cubicBezTo>
                  <a:lnTo>
                    <a:pt x="11109" y="21214"/>
                  </a:lnTo>
                  <a:lnTo>
                    <a:pt x="10536" y="21214"/>
                  </a:lnTo>
                  <a:lnTo>
                    <a:pt x="10536" y="12281"/>
                  </a:lnTo>
                  <a:cubicBezTo>
                    <a:pt x="10536" y="11594"/>
                    <a:pt x="10514" y="11036"/>
                    <a:pt x="10474" y="10650"/>
                  </a:cubicBezTo>
                  <a:cubicBezTo>
                    <a:pt x="10429" y="10263"/>
                    <a:pt x="10368" y="10048"/>
                    <a:pt x="10289" y="10048"/>
                  </a:cubicBezTo>
                  <a:cubicBezTo>
                    <a:pt x="10227" y="10048"/>
                    <a:pt x="10160" y="10177"/>
                    <a:pt x="10092" y="10478"/>
                  </a:cubicBezTo>
                  <a:cubicBezTo>
                    <a:pt x="10025" y="10736"/>
                    <a:pt x="9963" y="11122"/>
                    <a:pt x="9913" y="11551"/>
                  </a:cubicBezTo>
                  <a:lnTo>
                    <a:pt x="9913" y="21256"/>
                  </a:lnTo>
                  <a:close/>
                  <a:moveTo>
                    <a:pt x="12687" y="10220"/>
                  </a:moveTo>
                  <a:lnTo>
                    <a:pt x="12215" y="10220"/>
                  </a:lnTo>
                  <a:lnTo>
                    <a:pt x="12215" y="16189"/>
                  </a:lnTo>
                  <a:cubicBezTo>
                    <a:pt x="12215" y="16833"/>
                    <a:pt x="12232" y="17306"/>
                    <a:pt x="12271" y="17563"/>
                  </a:cubicBezTo>
                  <a:cubicBezTo>
                    <a:pt x="12311" y="17821"/>
                    <a:pt x="12361" y="17950"/>
                    <a:pt x="12429" y="17950"/>
                  </a:cubicBezTo>
                  <a:cubicBezTo>
                    <a:pt x="12479" y="17950"/>
                    <a:pt x="12530" y="17907"/>
                    <a:pt x="12580" y="17821"/>
                  </a:cubicBezTo>
                  <a:cubicBezTo>
                    <a:pt x="12631" y="17735"/>
                    <a:pt x="12670" y="17649"/>
                    <a:pt x="12698" y="17478"/>
                  </a:cubicBezTo>
                  <a:lnTo>
                    <a:pt x="12783" y="20441"/>
                  </a:lnTo>
                  <a:cubicBezTo>
                    <a:pt x="12738" y="20612"/>
                    <a:pt x="12670" y="20784"/>
                    <a:pt x="12586" y="20956"/>
                  </a:cubicBezTo>
                  <a:cubicBezTo>
                    <a:pt x="12496" y="21128"/>
                    <a:pt x="12401" y="21213"/>
                    <a:pt x="12305" y="21213"/>
                  </a:cubicBezTo>
                  <a:cubicBezTo>
                    <a:pt x="12064" y="21213"/>
                    <a:pt x="11895" y="20870"/>
                    <a:pt x="11800" y="20140"/>
                  </a:cubicBezTo>
                  <a:cubicBezTo>
                    <a:pt x="11699" y="19453"/>
                    <a:pt x="11654" y="18379"/>
                    <a:pt x="11654" y="16919"/>
                  </a:cubicBezTo>
                  <a:lnTo>
                    <a:pt x="11654" y="10220"/>
                  </a:lnTo>
                  <a:lnTo>
                    <a:pt x="11362" y="10220"/>
                  </a:lnTo>
                  <a:lnTo>
                    <a:pt x="11362" y="7085"/>
                  </a:lnTo>
                  <a:lnTo>
                    <a:pt x="11654" y="7085"/>
                  </a:lnTo>
                  <a:lnTo>
                    <a:pt x="11654" y="2791"/>
                  </a:lnTo>
                  <a:lnTo>
                    <a:pt x="12221" y="2791"/>
                  </a:lnTo>
                  <a:lnTo>
                    <a:pt x="12221" y="7085"/>
                  </a:lnTo>
                  <a:lnTo>
                    <a:pt x="12693" y="7085"/>
                  </a:lnTo>
                  <a:lnTo>
                    <a:pt x="12693" y="10220"/>
                  </a:lnTo>
                  <a:close/>
                  <a:moveTo>
                    <a:pt x="13069" y="8331"/>
                  </a:moveTo>
                  <a:cubicBezTo>
                    <a:pt x="13176" y="7858"/>
                    <a:pt x="13294" y="7472"/>
                    <a:pt x="13428" y="7214"/>
                  </a:cubicBezTo>
                  <a:cubicBezTo>
                    <a:pt x="13563" y="6914"/>
                    <a:pt x="13698" y="6785"/>
                    <a:pt x="13833" y="6785"/>
                  </a:cubicBezTo>
                  <a:cubicBezTo>
                    <a:pt x="14063" y="6785"/>
                    <a:pt x="14243" y="7214"/>
                    <a:pt x="14383" y="8073"/>
                  </a:cubicBezTo>
                  <a:cubicBezTo>
                    <a:pt x="14524" y="8932"/>
                    <a:pt x="14591" y="10263"/>
                    <a:pt x="14591" y="12110"/>
                  </a:cubicBezTo>
                  <a:lnTo>
                    <a:pt x="14591" y="21299"/>
                  </a:lnTo>
                  <a:lnTo>
                    <a:pt x="14153" y="21299"/>
                  </a:lnTo>
                  <a:lnTo>
                    <a:pt x="14102" y="19882"/>
                  </a:lnTo>
                  <a:lnTo>
                    <a:pt x="14085" y="19882"/>
                  </a:lnTo>
                  <a:cubicBezTo>
                    <a:pt x="14035" y="20398"/>
                    <a:pt x="13962" y="20827"/>
                    <a:pt x="13872" y="21128"/>
                  </a:cubicBezTo>
                  <a:cubicBezTo>
                    <a:pt x="13782" y="21471"/>
                    <a:pt x="13676" y="21600"/>
                    <a:pt x="13552" y="21600"/>
                  </a:cubicBezTo>
                  <a:cubicBezTo>
                    <a:pt x="13445" y="21600"/>
                    <a:pt x="13355" y="21471"/>
                    <a:pt x="13277" y="21256"/>
                  </a:cubicBezTo>
                  <a:cubicBezTo>
                    <a:pt x="13198" y="21042"/>
                    <a:pt x="13131" y="20698"/>
                    <a:pt x="13080" y="20312"/>
                  </a:cubicBezTo>
                  <a:cubicBezTo>
                    <a:pt x="13030" y="19925"/>
                    <a:pt x="12990" y="19453"/>
                    <a:pt x="12962" y="18895"/>
                  </a:cubicBezTo>
                  <a:cubicBezTo>
                    <a:pt x="12934" y="18336"/>
                    <a:pt x="12923" y="17778"/>
                    <a:pt x="12923" y="17177"/>
                  </a:cubicBezTo>
                  <a:cubicBezTo>
                    <a:pt x="12923" y="16361"/>
                    <a:pt x="12945" y="15631"/>
                    <a:pt x="12996" y="15073"/>
                  </a:cubicBezTo>
                  <a:cubicBezTo>
                    <a:pt x="13041" y="14472"/>
                    <a:pt x="13108" y="13999"/>
                    <a:pt x="13187" y="13613"/>
                  </a:cubicBezTo>
                  <a:cubicBezTo>
                    <a:pt x="13266" y="13226"/>
                    <a:pt x="13361" y="12969"/>
                    <a:pt x="13473" y="12797"/>
                  </a:cubicBezTo>
                  <a:cubicBezTo>
                    <a:pt x="13580" y="12625"/>
                    <a:pt x="13698" y="12539"/>
                    <a:pt x="13822" y="12539"/>
                  </a:cubicBezTo>
                  <a:lnTo>
                    <a:pt x="14012" y="12539"/>
                  </a:lnTo>
                  <a:lnTo>
                    <a:pt x="14012" y="11766"/>
                  </a:lnTo>
                  <a:cubicBezTo>
                    <a:pt x="14012" y="11251"/>
                    <a:pt x="13990" y="10821"/>
                    <a:pt x="13939" y="10564"/>
                  </a:cubicBezTo>
                  <a:cubicBezTo>
                    <a:pt x="13889" y="10263"/>
                    <a:pt x="13822" y="10134"/>
                    <a:pt x="13732" y="10134"/>
                  </a:cubicBezTo>
                  <a:cubicBezTo>
                    <a:pt x="13653" y="10134"/>
                    <a:pt x="13580" y="10220"/>
                    <a:pt x="13501" y="10392"/>
                  </a:cubicBezTo>
                  <a:cubicBezTo>
                    <a:pt x="13428" y="10564"/>
                    <a:pt x="13344" y="10864"/>
                    <a:pt x="13254" y="11251"/>
                  </a:cubicBezTo>
                  <a:lnTo>
                    <a:pt x="13069" y="8331"/>
                  </a:lnTo>
                  <a:close/>
                  <a:moveTo>
                    <a:pt x="14024" y="15116"/>
                  </a:moveTo>
                  <a:lnTo>
                    <a:pt x="13895" y="15159"/>
                  </a:lnTo>
                  <a:cubicBezTo>
                    <a:pt x="13822" y="15159"/>
                    <a:pt x="13760" y="15245"/>
                    <a:pt x="13715" y="15330"/>
                  </a:cubicBezTo>
                  <a:cubicBezTo>
                    <a:pt x="13664" y="15416"/>
                    <a:pt x="13625" y="15545"/>
                    <a:pt x="13597" y="15717"/>
                  </a:cubicBezTo>
                  <a:cubicBezTo>
                    <a:pt x="13569" y="15846"/>
                    <a:pt x="13546" y="16060"/>
                    <a:pt x="13535" y="16232"/>
                  </a:cubicBezTo>
                  <a:cubicBezTo>
                    <a:pt x="13524" y="16447"/>
                    <a:pt x="13518" y="16662"/>
                    <a:pt x="13518" y="16876"/>
                  </a:cubicBezTo>
                  <a:cubicBezTo>
                    <a:pt x="13518" y="17478"/>
                    <a:pt x="13541" y="17907"/>
                    <a:pt x="13591" y="18122"/>
                  </a:cubicBezTo>
                  <a:cubicBezTo>
                    <a:pt x="13636" y="18336"/>
                    <a:pt x="13692" y="18465"/>
                    <a:pt x="13754" y="18465"/>
                  </a:cubicBezTo>
                  <a:cubicBezTo>
                    <a:pt x="13816" y="18465"/>
                    <a:pt x="13872" y="18336"/>
                    <a:pt x="13923" y="18036"/>
                  </a:cubicBezTo>
                  <a:cubicBezTo>
                    <a:pt x="13973" y="17778"/>
                    <a:pt x="14007" y="17478"/>
                    <a:pt x="14029" y="17134"/>
                  </a:cubicBezTo>
                  <a:lnTo>
                    <a:pt x="14029" y="15116"/>
                  </a:lnTo>
                  <a:close/>
                  <a:moveTo>
                    <a:pt x="16192" y="10220"/>
                  </a:moveTo>
                  <a:lnTo>
                    <a:pt x="15720" y="10220"/>
                  </a:lnTo>
                  <a:lnTo>
                    <a:pt x="15720" y="16189"/>
                  </a:lnTo>
                  <a:cubicBezTo>
                    <a:pt x="15720" y="16833"/>
                    <a:pt x="15737" y="17306"/>
                    <a:pt x="15776" y="17563"/>
                  </a:cubicBezTo>
                  <a:cubicBezTo>
                    <a:pt x="15815" y="17821"/>
                    <a:pt x="15866" y="17950"/>
                    <a:pt x="15933" y="17950"/>
                  </a:cubicBezTo>
                  <a:cubicBezTo>
                    <a:pt x="15984" y="17950"/>
                    <a:pt x="16034" y="17907"/>
                    <a:pt x="16085" y="17821"/>
                  </a:cubicBezTo>
                  <a:cubicBezTo>
                    <a:pt x="16135" y="17735"/>
                    <a:pt x="16175" y="17649"/>
                    <a:pt x="16203" y="17478"/>
                  </a:cubicBezTo>
                  <a:lnTo>
                    <a:pt x="16287" y="20441"/>
                  </a:lnTo>
                  <a:cubicBezTo>
                    <a:pt x="16242" y="20612"/>
                    <a:pt x="16175" y="20784"/>
                    <a:pt x="16090" y="20956"/>
                  </a:cubicBezTo>
                  <a:cubicBezTo>
                    <a:pt x="16001" y="21128"/>
                    <a:pt x="15905" y="21213"/>
                    <a:pt x="15810" y="21213"/>
                  </a:cubicBezTo>
                  <a:cubicBezTo>
                    <a:pt x="15568" y="21213"/>
                    <a:pt x="15400" y="20870"/>
                    <a:pt x="15304" y="20140"/>
                  </a:cubicBezTo>
                  <a:cubicBezTo>
                    <a:pt x="15203" y="19453"/>
                    <a:pt x="15158" y="18379"/>
                    <a:pt x="15158" y="16919"/>
                  </a:cubicBezTo>
                  <a:lnTo>
                    <a:pt x="15158" y="10220"/>
                  </a:lnTo>
                  <a:lnTo>
                    <a:pt x="14866" y="10220"/>
                  </a:lnTo>
                  <a:lnTo>
                    <a:pt x="14866" y="7085"/>
                  </a:lnTo>
                  <a:lnTo>
                    <a:pt x="15158" y="7085"/>
                  </a:lnTo>
                  <a:lnTo>
                    <a:pt x="15158" y="2791"/>
                  </a:lnTo>
                  <a:lnTo>
                    <a:pt x="15725" y="2791"/>
                  </a:lnTo>
                  <a:lnTo>
                    <a:pt x="15725" y="7085"/>
                  </a:lnTo>
                  <a:lnTo>
                    <a:pt x="16197" y="7085"/>
                  </a:lnTo>
                  <a:lnTo>
                    <a:pt x="16197" y="10220"/>
                  </a:lnTo>
                  <a:close/>
                  <a:moveTo>
                    <a:pt x="16871" y="4294"/>
                  </a:moveTo>
                  <a:cubicBezTo>
                    <a:pt x="16776" y="4294"/>
                    <a:pt x="16697" y="4080"/>
                    <a:pt x="16646" y="3650"/>
                  </a:cubicBezTo>
                  <a:cubicBezTo>
                    <a:pt x="16596" y="3221"/>
                    <a:pt x="16568" y="2705"/>
                    <a:pt x="16568" y="2147"/>
                  </a:cubicBezTo>
                  <a:cubicBezTo>
                    <a:pt x="16568" y="1546"/>
                    <a:pt x="16596" y="1031"/>
                    <a:pt x="16646" y="644"/>
                  </a:cubicBezTo>
                  <a:cubicBezTo>
                    <a:pt x="16697" y="215"/>
                    <a:pt x="16776" y="0"/>
                    <a:pt x="16866" y="0"/>
                  </a:cubicBezTo>
                  <a:cubicBezTo>
                    <a:pt x="16961" y="0"/>
                    <a:pt x="17034" y="215"/>
                    <a:pt x="17085" y="601"/>
                  </a:cubicBezTo>
                  <a:cubicBezTo>
                    <a:pt x="17135" y="1031"/>
                    <a:pt x="17163" y="1546"/>
                    <a:pt x="17163" y="2147"/>
                  </a:cubicBezTo>
                  <a:cubicBezTo>
                    <a:pt x="17163" y="2748"/>
                    <a:pt x="17135" y="3264"/>
                    <a:pt x="17085" y="3693"/>
                  </a:cubicBezTo>
                  <a:cubicBezTo>
                    <a:pt x="17045" y="4122"/>
                    <a:pt x="16972" y="4294"/>
                    <a:pt x="16871" y="4294"/>
                  </a:cubicBezTo>
                  <a:close/>
                  <a:moveTo>
                    <a:pt x="16585" y="21256"/>
                  </a:moveTo>
                  <a:lnTo>
                    <a:pt x="16585" y="7085"/>
                  </a:lnTo>
                  <a:lnTo>
                    <a:pt x="17158" y="7085"/>
                  </a:lnTo>
                  <a:lnTo>
                    <a:pt x="17158" y="21256"/>
                  </a:lnTo>
                  <a:lnTo>
                    <a:pt x="16585" y="21256"/>
                  </a:lnTo>
                  <a:close/>
                  <a:moveTo>
                    <a:pt x="19477" y="14085"/>
                  </a:moveTo>
                  <a:cubicBezTo>
                    <a:pt x="19477" y="15245"/>
                    <a:pt x="19455" y="16275"/>
                    <a:pt x="19404" y="17220"/>
                  </a:cubicBezTo>
                  <a:cubicBezTo>
                    <a:pt x="19354" y="18165"/>
                    <a:pt x="19286" y="18938"/>
                    <a:pt x="19196" y="19582"/>
                  </a:cubicBezTo>
                  <a:cubicBezTo>
                    <a:pt x="19106" y="20226"/>
                    <a:pt x="19005" y="20741"/>
                    <a:pt x="18887" y="21085"/>
                  </a:cubicBezTo>
                  <a:cubicBezTo>
                    <a:pt x="18769" y="21428"/>
                    <a:pt x="18640" y="21600"/>
                    <a:pt x="18505" y="21600"/>
                  </a:cubicBezTo>
                  <a:cubicBezTo>
                    <a:pt x="18371" y="21600"/>
                    <a:pt x="18241" y="21428"/>
                    <a:pt x="18124" y="21128"/>
                  </a:cubicBezTo>
                  <a:cubicBezTo>
                    <a:pt x="18006" y="20784"/>
                    <a:pt x="17905" y="20355"/>
                    <a:pt x="17820" y="19711"/>
                  </a:cubicBezTo>
                  <a:cubicBezTo>
                    <a:pt x="17736" y="19109"/>
                    <a:pt x="17669" y="18336"/>
                    <a:pt x="17618" y="17435"/>
                  </a:cubicBezTo>
                  <a:cubicBezTo>
                    <a:pt x="17568" y="16533"/>
                    <a:pt x="17545" y="15502"/>
                    <a:pt x="17545" y="14386"/>
                  </a:cubicBezTo>
                  <a:cubicBezTo>
                    <a:pt x="17545" y="13183"/>
                    <a:pt x="17568" y="12110"/>
                    <a:pt x="17618" y="11165"/>
                  </a:cubicBezTo>
                  <a:cubicBezTo>
                    <a:pt x="17669" y="10220"/>
                    <a:pt x="17736" y="9404"/>
                    <a:pt x="17826" y="8760"/>
                  </a:cubicBezTo>
                  <a:cubicBezTo>
                    <a:pt x="17916" y="8116"/>
                    <a:pt x="18017" y="7601"/>
                    <a:pt x="18135" y="7257"/>
                  </a:cubicBezTo>
                  <a:cubicBezTo>
                    <a:pt x="18253" y="6914"/>
                    <a:pt x="18382" y="6742"/>
                    <a:pt x="18517" y="6742"/>
                  </a:cubicBezTo>
                  <a:cubicBezTo>
                    <a:pt x="18651" y="6742"/>
                    <a:pt x="18781" y="6914"/>
                    <a:pt x="18899" y="7214"/>
                  </a:cubicBezTo>
                  <a:cubicBezTo>
                    <a:pt x="19017" y="7515"/>
                    <a:pt x="19118" y="7987"/>
                    <a:pt x="19202" y="8631"/>
                  </a:cubicBezTo>
                  <a:cubicBezTo>
                    <a:pt x="19286" y="9233"/>
                    <a:pt x="19354" y="10006"/>
                    <a:pt x="19404" y="10907"/>
                  </a:cubicBezTo>
                  <a:cubicBezTo>
                    <a:pt x="19455" y="11809"/>
                    <a:pt x="19477" y="12883"/>
                    <a:pt x="19477" y="14085"/>
                  </a:cubicBezTo>
                  <a:close/>
                  <a:moveTo>
                    <a:pt x="18893" y="14214"/>
                  </a:moveTo>
                  <a:cubicBezTo>
                    <a:pt x="18893" y="13441"/>
                    <a:pt x="18882" y="12797"/>
                    <a:pt x="18865" y="12239"/>
                  </a:cubicBezTo>
                  <a:cubicBezTo>
                    <a:pt x="18842" y="11680"/>
                    <a:pt x="18814" y="11251"/>
                    <a:pt x="18781" y="10907"/>
                  </a:cubicBezTo>
                  <a:cubicBezTo>
                    <a:pt x="18747" y="10564"/>
                    <a:pt x="18702" y="10306"/>
                    <a:pt x="18657" y="10134"/>
                  </a:cubicBezTo>
                  <a:cubicBezTo>
                    <a:pt x="18612" y="9963"/>
                    <a:pt x="18562" y="9920"/>
                    <a:pt x="18517" y="9920"/>
                  </a:cubicBezTo>
                  <a:cubicBezTo>
                    <a:pt x="18466" y="9920"/>
                    <a:pt x="18421" y="10006"/>
                    <a:pt x="18376" y="10134"/>
                  </a:cubicBezTo>
                  <a:cubicBezTo>
                    <a:pt x="18331" y="10263"/>
                    <a:pt x="18292" y="10521"/>
                    <a:pt x="18258" y="10821"/>
                  </a:cubicBezTo>
                  <a:cubicBezTo>
                    <a:pt x="18225" y="11165"/>
                    <a:pt x="18197" y="11594"/>
                    <a:pt x="18174" y="12153"/>
                  </a:cubicBezTo>
                  <a:cubicBezTo>
                    <a:pt x="18152" y="12711"/>
                    <a:pt x="18146" y="13355"/>
                    <a:pt x="18146" y="14214"/>
                  </a:cubicBezTo>
                  <a:cubicBezTo>
                    <a:pt x="18146" y="15631"/>
                    <a:pt x="18185" y="16705"/>
                    <a:pt x="18264" y="17349"/>
                  </a:cubicBezTo>
                  <a:cubicBezTo>
                    <a:pt x="18343" y="18036"/>
                    <a:pt x="18432" y="18336"/>
                    <a:pt x="18528" y="18336"/>
                  </a:cubicBezTo>
                  <a:cubicBezTo>
                    <a:pt x="18578" y="18336"/>
                    <a:pt x="18623" y="18250"/>
                    <a:pt x="18668" y="18122"/>
                  </a:cubicBezTo>
                  <a:cubicBezTo>
                    <a:pt x="18713" y="17993"/>
                    <a:pt x="18753" y="17735"/>
                    <a:pt x="18786" y="17435"/>
                  </a:cubicBezTo>
                  <a:cubicBezTo>
                    <a:pt x="18820" y="17091"/>
                    <a:pt x="18848" y="16662"/>
                    <a:pt x="18871" y="16146"/>
                  </a:cubicBezTo>
                  <a:cubicBezTo>
                    <a:pt x="18882" y="15631"/>
                    <a:pt x="18893" y="14987"/>
                    <a:pt x="18893" y="14214"/>
                  </a:cubicBezTo>
                  <a:close/>
                  <a:moveTo>
                    <a:pt x="20404" y="21256"/>
                  </a:moveTo>
                  <a:lnTo>
                    <a:pt x="19831" y="21256"/>
                  </a:lnTo>
                  <a:lnTo>
                    <a:pt x="19831" y="7085"/>
                  </a:lnTo>
                  <a:lnTo>
                    <a:pt x="20275" y="7085"/>
                  </a:lnTo>
                  <a:lnTo>
                    <a:pt x="20342" y="8846"/>
                  </a:lnTo>
                  <a:cubicBezTo>
                    <a:pt x="20426" y="8202"/>
                    <a:pt x="20516" y="7687"/>
                    <a:pt x="20617" y="7300"/>
                  </a:cubicBezTo>
                  <a:cubicBezTo>
                    <a:pt x="20718" y="6914"/>
                    <a:pt x="20831" y="6742"/>
                    <a:pt x="20954" y="6742"/>
                  </a:cubicBezTo>
                  <a:cubicBezTo>
                    <a:pt x="21162" y="6742"/>
                    <a:pt x="21319" y="7171"/>
                    <a:pt x="21432" y="8030"/>
                  </a:cubicBezTo>
                  <a:cubicBezTo>
                    <a:pt x="21544" y="8889"/>
                    <a:pt x="21600" y="10177"/>
                    <a:pt x="21600" y="11852"/>
                  </a:cubicBezTo>
                  <a:lnTo>
                    <a:pt x="21600" y="21214"/>
                  </a:lnTo>
                  <a:lnTo>
                    <a:pt x="21027" y="21214"/>
                  </a:lnTo>
                  <a:lnTo>
                    <a:pt x="21027" y="12281"/>
                  </a:lnTo>
                  <a:cubicBezTo>
                    <a:pt x="21027" y="11594"/>
                    <a:pt x="21005" y="11036"/>
                    <a:pt x="20965" y="10650"/>
                  </a:cubicBezTo>
                  <a:cubicBezTo>
                    <a:pt x="20920" y="10263"/>
                    <a:pt x="20859" y="10048"/>
                    <a:pt x="20780" y="10048"/>
                  </a:cubicBezTo>
                  <a:cubicBezTo>
                    <a:pt x="20718" y="10048"/>
                    <a:pt x="20651" y="10177"/>
                    <a:pt x="20583" y="10478"/>
                  </a:cubicBezTo>
                  <a:cubicBezTo>
                    <a:pt x="20516" y="10736"/>
                    <a:pt x="20454" y="11122"/>
                    <a:pt x="20404" y="11551"/>
                  </a:cubicBezTo>
                  <a:lnTo>
                    <a:pt x="20404" y="212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349345AB-AD63-E181-3B5F-534FD2A982FA}"/>
                </a:ext>
              </a:extLst>
            </p:cNvPr>
            <p:cNvSpPr/>
            <p:nvPr userDrawn="1"/>
          </p:nvSpPr>
          <p:spPr>
            <a:xfrm>
              <a:off x="5032172" y="1021854"/>
              <a:ext cx="1051185" cy="549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4" y="0"/>
                  </a:moveTo>
                  <a:cubicBezTo>
                    <a:pt x="13287" y="0"/>
                    <a:pt x="11002" y="3514"/>
                    <a:pt x="10441" y="8443"/>
                  </a:cubicBezTo>
                  <a:cubicBezTo>
                    <a:pt x="9052" y="8229"/>
                    <a:pt x="6050" y="7757"/>
                    <a:pt x="5198" y="7671"/>
                  </a:cubicBezTo>
                  <a:cubicBezTo>
                    <a:pt x="5154" y="7671"/>
                    <a:pt x="5109" y="7671"/>
                    <a:pt x="5041" y="7671"/>
                  </a:cubicBezTo>
                  <a:cubicBezTo>
                    <a:pt x="4638" y="7671"/>
                    <a:pt x="4280" y="7886"/>
                    <a:pt x="4033" y="8357"/>
                  </a:cubicBezTo>
                  <a:cubicBezTo>
                    <a:pt x="3563" y="9214"/>
                    <a:pt x="3563" y="10457"/>
                    <a:pt x="3563" y="10843"/>
                  </a:cubicBezTo>
                  <a:cubicBezTo>
                    <a:pt x="3563" y="11271"/>
                    <a:pt x="3563" y="12514"/>
                    <a:pt x="4033" y="13329"/>
                  </a:cubicBezTo>
                  <a:cubicBezTo>
                    <a:pt x="4280" y="13800"/>
                    <a:pt x="4638" y="14014"/>
                    <a:pt x="5041" y="14014"/>
                  </a:cubicBezTo>
                  <a:cubicBezTo>
                    <a:pt x="5086" y="14014"/>
                    <a:pt x="5131" y="14014"/>
                    <a:pt x="5198" y="14014"/>
                  </a:cubicBezTo>
                  <a:cubicBezTo>
                    <a:pt x="5803" y="13929"/>
                    <a:pt x="7417" y="13714"/>
                    <a:pt x="8313" y="13543"/>
                  </a:cubicBezTo>
                  <a:lnTo>
                    <a:pt x="9657" y="13329"/>
                  </a:lnTo>
                  <a:cubicBezTo>
                    <a:pt x="9971" y="13286"/>
                    <a:pt x="10262" y="13243"/>
                    <a:pt x="10464" y="13200"/>
                  </a:cubicBezTo>
                  <a:cubicBezTo>
                    <a:pt x="11046" y="18043"/>
                    <a:pt x="13332" y="21557"/>
                    <a:pt x="15954" y="21557"/>
                  </a:cubicBezTo>
                  <a:cubicBezTo>
                    <a:pt x="19068" y="21557"/>
                    <a:pt x="21600" y="16714"/>
                    <a:pt x="21600" y="10757"/>
                  </a:cubicBezTo>
                  <a:cubicBezTo>
                    <a:pt x="21600" y="4843"/>
                    <a:pt x="19068" y="0"/>
                    <a:pt x="15954" y="0"/>
                  </a:cubicBezTo>
                  <a:close/>
                  <a:moveTo>
                    <a:pt x="15954" y="17229"/>
                  </a:moveTo>
                  <a:cubicBezTo>
                    <a:pt x="14094" y="17229"/>
                    <a:pt x="12593" y="14357"/>
                    <a:pt x="12593" y="10800"/>
                  </a:cubicBezTo>
                  <a:cubicBezTo>
                    <a:pt x="12593" y="7243"/>
                    <a:pt x="14094" y="4371"/>
                    <a:pt x="15954" y="4371"/>
                  </a:cubicBezTo>
                  <a:cubicBezTo>
                    <a:pt x="17813" y="4371"/>
                    <a:pt x="19315" y="7243"/>
                    <a:pt x="19315" y="10800"/>
                  </a:cubicBezTo>
                  <a:cubicBezTo>
                    <a:pt x="19315" y="14357"/>
                    <a:pt x="17813" y="17229"/>
                    <a:pt x="15954" y="17229"/>
                  </a:cubicBezTo>
                  <a:close/>
                  <a:moveTo>
                    <a:pt x="9007" y="15514"/>
                  </a:moveTo>
                  <a:lnTo>
                    <a:pt x="9007" y="20014"/>
                  </a:lnTo>
                  <a:cubicBezTo>
                    <a:pt x="8627" y="20443"/>
                    <a:pt x="8134" y="20786"/>
                    <a:pt x="7506" y="21129"/>
                  </a:cubicBezTo>
                  <a:cubicBezTo>
                    <a:pt x="6879" y="21429"/>
                    <a:pt x="6207" y="21600"/>
                    <a:pt x="5467" y="21600"/>
                  </a:cubicBezTo>
                  <a:cubicBezTo>
                    <a:pt x="4324" y="21600"/>
                    <a:pt x="3339" y="21171"/>
                    <a:pt x="2532" y="20271"/>
                  </a:cubicBezTo>
                  <a:cubicBezTo>
                    <a:pt x="1725" y="19371"/>
                    <a:pt x="1098" y="18129"/>
                    <a:pt x="650" y="16500"/>
                  </a:cubicBezTo>
                  <a:cubicBezTo>
                    <a:pt x="224" y="14871"/>
                    <a:pt x="0" y="12986"/>
                    <a:pt x="0" y="10800"/>
                  </a:cubicBezTo>
                  <a:cubicBezTo>
                    <a:pt x="0" y="8657"/>
                    <a:pt x="246" y="6729"/>
                    <a:pt x="717" y="5143"/>
                  </a:cubicBezTo>
                  <a:cubicBezTo>
                    <a:pt x="1210" y="3514"/>
                    <a:pt x="1860" y="2271"/>
                    <a:pt x="2711" y="1371"/>
                  </a:cubicBezTo>
                  <a:cubicBezTo>
                    <a:pt x="3563" y="471"/>
                    <a:pt x="4549" y="43"/>
                    <a:pt x="5646" y="43"/>
                  </a:cubicBezTo>
                  <a:cubicBezTo>
                    <a:pt x="6229" y="43"/>
                    <a:pt x="6767" y="171"/>
                    <a:pt x="7282" y="386"/>
                  </a:cubicBezTo>
                  <a:cubicBezTo>
                    <a:pt x="7798" y="600"/>
                    <a:pt x="8246" y="900"/>
                    <a:pt x="8627" y="1243"/>
                  </a:cubicBezTo>
                  <a:lnTo>
                    <a:pt x="8402" y="4843"/>
                  </a:lnTo>
                  <a:cubicBezTo>
                    <a:pt x="8022" y="4500"/>
                    <a:pt x="7596" y="4200"/>
                    <a:pt x="7125" y="3986"/>
                  </a:cubicBezTo>
                  <a:cubicBezTo>
                    <a:pt x="6655" y="3771"/>
                    <a:pt x="6162" y="3643"/>
                    <a:pt x="5624" y="3643"/>
                  </a:cubicBezTo>
                  <a:cubicBezTo>
                    <a:pt x="4817" y="3643"/>
                    <a:pt x="4168" y="3943"/>
                    <a:pt x="3630" y="4586"/>
                  </a:cubicBezTo>
                  <a:cubicBezTo>
                    <a:pt x="3115" y="5186"/>
                    <a:pt x="2734" y="6043"/>
                    <a:pt x="2487" y="7114"/>
                  </a:cubicBezTo>
                  <a:cubicBezTo>
                    <a:pt x="2241" y="8186"/>
                    <a:pt x="2106" y="9386"/>
                    <a:pt x="2106" y="10714"/>
                  </a:cubicBezTo>
                  <a:cubicBezTo>
                    <a:pt x="2106" y="12129"/>
                    <a:pt x="2241" y="13371"/>
                    <a:pt x="2487" y="14443"/>
                  </a:cubicBezTo>
                  <a:cubicBezTo>
                    <a:pt x="2734" y="15514"/>
                    <a:pt x="3115" y="16371"/>
                    <a:pt x="3607" y="17014"/>
                  </a:cubicBezTo>
                  <a:cubicBezTo>
                    <a:pt x="4100" y="17614"/>
                    <a:pt x="4728" y="17957"/>
                    <a:pt x="5490" y="17957"/>
                  </a:cubicBezTo>
                  <a:cubicBezTo>
                    <a:pt x="5714" y="17957"/>
                    <a:pt x="5960" y="17914"/>
                    <a:pt x="6207" y="17871"/>
                  </a:cubicBezTo>
                  <a:cubicBezTo>
                    <a:pt x="6453" y="17829"/>
                    <a:pt x="6722" y="17743"/>
                    <a:pt x="6968" y="17614"/>
                  </a:cubicBezTo>
                  <a:lnTo>
                    <a:pt x="6968" y="15814"/>
                  </a:lnTo>
                  <a:cubicBezTo>
                    <a:pt x="7439" y="15729"/>
                    <a:pt x="7887" y="15686"/>
                    <a:pt x="8246" y="15643"/>
                  </a:cubicBezTo>
                  <a:lnTo>
                    <a:pt x="9007" y="15514"/>
                  </a:lnTo>
                  <a:close/>
                </a:path>
              </a:pathLst>
            </a:custGeom>
            <a:solidFill>
              <a:srgbClr val="008C58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FD9E41AE-A002-9005-E6E5-3580179613F9}"/>
              </a:ext>
            </a:extLst>
          </p:cNvPr>
          <p:cNvSpPr/>
          <p:nvPr userDrawn="1"/>
        </p:nvSpPr>
        <p:spPr>
          <a:xfrm>
            <a:off x="2105953" y="640199"/>
            <a:ext cx="226449" cy="195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7" h="20569" extrusionOk="0">
                <a:moveTo>
                  <a:pt x="1276" y="2502"/>
                </a:moveTo>
                <a:cubicBezTo>
                  <a:pt x="3176" y="-371"/>
                  <a:pt x="6676" y="-945"/>
                  <a:pt x="8976" y="1698"/>
                </a:cubicBezTo>
                <a:cubicBezTo>
                  <a:pt x="9476" y="2272"/>
                  <a:pt x="9876" y="2961"/>
                  <a:pt x="10376" y="3651"/>
                </a:cubicBezTo>
                <a:cubicBezTo>
                  <a:pt x="10876" y="2961"/>
                  <a:pt x="11276" y="2272"/>
                  <a:pt x="11776" y="1698"/>
                </a:cubicBezTo>
                <a:cubicBezTo>
                  <a:pt x="14076" y="-945"/>
                  <a:pt x="17676" y="-371"/>
                  <a:pt x="19476" y="2502"/>
                </a:cubicBezTo>
                <a:cubicBezTo>
                  <a:pt x="21176" y="5144"/>
                  <a:pt x="21076" y="7902"/>
                  <a:pt x="19876" y="10659"/>
                </a:cubicBezTo>
                <a:cubicBezTo>
                  <a:pt x="18676" y="13302"/>
                  <a:pt x="16976" y="15485"/>
                  <a:pt x="14976" y="17323"/>
                </a:cubicBezTo>
                <a:cubicBezTo>
                  <a:pt x="13876" y="18357"/>
                  <a:pt x="12376" y="19391"/>
                  <a:pt x="11076" y="20310"/>
                </a:cubicBezTo>
                <a:cubicBezTo>
                  <a:pt x="10676" y="20655"/>
                  <a:pt x="10176" y="20655"/>
                  <a:pt x="9776" y="20310"/>
                </a:cubicBezTo>
                <a:cubicBezTo>
                  <a:pt x="8476" y="19391"/>
                  <a:pt x="6976" y="18357"/>
                  <a:pt x="5876" y="17323"/>
                </a:cubicBezTo>
                <a:cubicBezTo>
                  <a:pt x="3876" y="15485"/>
                  <a:pt x="2176" y="13417"/>
                  <a:pt x="976" y="10659"/>
                </a:cubicBezTo>
                <a:cubicBezTo>
                  <a:pt x="-324" y="7902"/>
                  <a:pt x="-424" y="5144"/>
                  <a:pt x="1276" y="2502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F46B88B0-8416-31F6-5282-9C6E196C9A56}"/>
              </a:ext>
            </a:extLst>
          </p:cNvPr>
          <p:cNvSpPr/>
          <p:nvPr userDrawn="1"/>
        </p:nvSpPr>
        <p:spPr>
          <a:xfrm>
            <a:off x="7387520" y="3289969"/>
            <a:ext cx="4804480" cy="2927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85" y="0"/>
                </a:moveTo>
                <a:cubicBezTo>
                  <a:pt x="19673" y="0"/>
                  <a:pt x="20698" y="434"/>
                  <a:pt x="21600" y="1199"/>
                </a:cubicBezTo>
                <a:lnTo>
                  <a:pt x="21600" y="6677"/>
                </a:lnTo>
                <a:cubicBezTo>
                  <a:pt x="20879" y="5261"/>
                  <a:pt x="19796" y="4352"/>
                  <a:pt x="18585" y="4352"/>
                </a:cubicBezTo>
                <a:cubicBezTo>
                  <a:pt x="16418" y="4352"/>
                  <a:pt x="14658" y="7240"/>
                  <a:pt x="14658" y="10796"/>
                </a:cubicBezTo>
                <a:cubicBezTo>
                  <a:pt x="14658" y="14344"/>
                  <a:pt x="16418" y="17240"/>
                  <a:pt x="18585" y="17240"/>
                </a:cubicBezTo>
                <a:cubicBezTo>
                  <a:pt x="19796" y="17240"/>
                  <a:pt x="20879" y="16339"/>
                  <a:pt x="21600" y="14915"/>
                </a:cubicBezTo>
                <a:lnTo>
                  <a:pt x="21600" y="20393"/>
                </a:lnTo>
                <a:cubicBezTo>
                  <a:pt x="20698" y="21158"/>
                  <a:pt x="19668" y="21592"/>
                  <a:pt x="18585" y="21592"/>
                </a:cubicBezTo>
                <a:cubicBezTo>
                  <a:pt x="15511" y="21592"/>
                  <a:pt x="12864" y="18109"/>
                  <a:pt x="12178" y="13250"/>
                </a:cubicBezTo>
                <a:cubicBezTo>
                  <a:pt x="11932" y="13282"/>
                  <a:pt x="11609" y="13322"/>
                  <a:pt x="11236" y="13370"/>
                </a:cubicBezTo>
                <a:lnTo>
                  <a:pt x="9677" y="13571"/>
                </a:lnTo>
                <a:cubicBezTo>
                  <a:pt x="8628" y="13708"/>
                  <a:pt x="6760" y="13949"/>
                  <a:pt x="6050" y="14030"/>
                </a:cubicBezTo>
                <a:cubicBezTo>
                  <a:pt x="5991" y="14038"/>
                  <a:pt x="5932" y="14038"/>
                  <a:pt x="5873" y="14038"/>
                </a:cubicBezTo>
                <a:cubicBezTo>
                  <a:pt x="5393" y="14038"/>
                  <a:pt x="4996" y="13805"/>
                  <a:pt x="4697" y="13346"/>
                </a:cubicBezTo>
                <a:cubicBezTo>
                  <a:pt x="4152" y="12509"/>
                  <a:pt x="4152" y="11263"/>
                  <a:pt x="4152" y="10852"/>
                </a:cubicBezTo>
                <a:cubicBezTo>
                  <a:pt x="4152" y="10442"/>
                  <a:pt x="4152" y="9195"/>
                  <a:pt x="4697" y="8350"/>
                </a:cubicBezTo>
                <a:cubicBezTo>
                  <a:pt x="4996" y="7892"/>
                  <a:pt x="5393" y="7659"/>
                  <a:pt x="5873" y="7659"/>
                </a:cubicBezTo>
                <a:cubicBezTo>
                  <a:pt x="5927" y="7659"/>
                  <a:pt x="5986" y="7659"/>
                  <a:pt x="6045" y="7667"/>
                </a:cubicBezTo>
                <a:cubicBezTo>
                  <a:pt x="7045" y="7779"/>
                  <a:pt x="10550" y="8238"/>
                  <a:pt x="12158" y="8447"/>
                </a:cubicBezTo>
                <a:cubicBezTo>
                  <a:pt x="12825" y="3532"/>
                  <a:pt x="15477" y="0"/>
                  <a:pt x="18585" y="0"/>
                </a:cubicBezTo>
                <a:close/>
                <a:moveTo>
                  <a:pt x="2937" y="20257"/>
                </a:moveTo>
                <a:cubicBezTo>
                  <a:pt x="3888" y="21149"/>
                  <a:pt x="5030" y="21600"/>
                  <a:pt x="6368" y="21600"/>
                </a:cubicBezTo>
                <a:cubicBezTo>
                  <a:pt x="7236" y="21600"/>
                  <a:pt x="8030" y="21447"/>
                  <a:pt x="8756" y="21133"/>
                </a:cubicBezTo>
                <a:cubicBezTo>
                  <a:pt x="9481" y="20820"/>
                  <a:pt x="10065" y="20458"/>
                  <a:pt x="10501" y="20031"/>
                </a:cubicBezTo>
                <a:lnTo>
                  <a:pt x="10501" y="15542"/>
                </a:lnTo>
                <a:lnTo>
                  <a:pt x="9672" y="15647"/>
                </a:lnTo>
                <a:cubicBezTo>
                  <a:pt x="9266" y="15703"/>
                  <a:pt x="8731" y="15768"/>
                  <a:pt x="8187" y="15840"/>
                </a:cubicBezTo>
                <a:lnTo>
                  <a:pt x="8187" y="17634"/>
                </a:lnTo>
                <a:cubicBezTo>
                  <a:pt x="7878" y="17731"/>
                  <a:pt x="7579" y="17811"/>
                  <a:pt x="7290" y="17867"/>
                </a:cubicBezTo>
                <a:cubicBezTo>
                  <a:pt x="6996" y="17924"/>
                  <a:pt x="6721" y="17956"/>
                  <a:pt x="6456" y="17956"/>
                </a:cubicBezTo>
                <a:cubicBezTo>
                  <a:pt x="5584" y="17956"/>
                  <a:pt x="4853" y="17650"/>
                  <a:pt x="4270" y="17031"/>
                </a:cubicBezTo>
                <a:cubicBezTo>
                  <a:pt x="3687" y="16411"/>
                  <a:pt x="3250" y="15558"/>
                  <a:pt x="2956" y="14472"/>
                </a:cubicBezTo>
                <a:cubicBezTo>
                  <a:pt x="2662" y="13386"/>
                  <a:pt x="2520" y="12139"/>
                  <a:pt x="2520" y="10724"/>
                </a:cubicBezTo>
                <a:cubicBezTo>
                  <a:pt x="2520" y="9380"/>
                  <a:pt x="2667" y="8173"/>
                  <a:pt x="2951" y="7112"/>
                </a:cubicBezTo>
                <a:cubicBezTo>
                  <a:pt x="3240" y="6050"/>
                  <a:pt x="3687" y="5213"/>
                  <a:pt x="4290" y="4594"/>
                </a:cubicBezTo>
                <a:cubicBezTo>
                  <a:pt x="4893" y="3974"/>
                  <a:pt x="5662" y="3668"/>
                  <a:pt x="6604" y="3668"/>
                </a:cubicBezTo>
                <a:cubicBezTo>
                  <a:pt x="7216" y="3668"/>
                  <a:pt x="7795" y="3781"/>
                  <a:pt x="8344" y="3998"/>
                </a:cubicBezTo>
                <a:cubicBezTo>
                  <a:pt x="8888" y="4223"/>
                  <a:pt x="9388" y="4505"/>
                  <a:pt x="9839" y="4851"/>
                </a:cubicBezTo>
                <a:lnTo>
                  <a:pt x="10094" y="1239"/>
                </a:lnTo>
                <a:cubicBezTo>
                  <a:pt x="9663" y="885"/>
                  <a:pt x="9138" y="595"/>
                  <a:pt x="8525" y="362"/>
                </a:cubicBezTo>
                <a:cubicBezTo>
                  <a:pt x="7912" y="137"/>
                  <a:pt x="7275" y="24"/>
                  <a:pt x="6608" y="24"/>
                </a:cubicBezTo>
                <a:cubicBezTo>
                  <a:pt x="5314" y="24"/>
                  <a:pt x="4172" y="467"/>
                  <a:pt x="3177" y="1360"/>
                </a:cubicBezTo>
                <a:cubicBezTo>
                  <a:pt x="2182" y="2253"/>
                  <a:pt x="1407" y="3499"/>
                  <a:pt x="843" y="5116"/>
                </a:cubicBezTo>
                <a:cubicBezTo>
                  <a:pt x="279" y="6733"/>
                  <a:pt x="0" y="8624"/>
                  <a:pt x="0" y="10788"/>
                </a:cubicBezTo>
                <a:cubicBezTo>
                  <a:pt x="0" y="12968"/>
                  <a:pt x="255" y="14875"/>
                  <a:pt x="760" y="16492"/>
                </a:cubicBezTo>
                <a:cubicBezTo>
                  <a:pt x="1260" y="18109"/>
                  <a:pt x="1985" y="19364"/>
                  <a:pt x="2937" y="20257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B9E8C2-CD1B-F803-4119-F7DE75A32CC8}"/>
              </a:ext>
            </a:extLst>
          </p:cNvPr>
          <p:cNvSpPr txBox="1"/>
          <p:nvPr userDrawn="1"/>
        </p:nvSpPr>
        <p:spPr>
          <a:xfrm>
            <a:off x="667330" y="1772442"/>
            <a:ext cx="74194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 b="0" i="0" dirty="0">
                <a:solidFill>
                  <a:srgbClr val="FFFFFF">
                    <a:alpha val="40000"/>
                  </a:srgbClr>
                </a:solidFill>
                <a:effectLst/>
                <a:latin typeface="+mj-lt"/>
              </a:rPr>
              <a:t>Free Templates &amp; Infographics for PowerPoint and Google Slides</a:t>
            </a:r>
            <a:endParaRPr lang="en-US" sz="2200" dirty="0">
              <a:solidFill>
                <a:schemeClr val="bg1"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46F724-D3C0-8C2C-8F9E-DABDEC9945EC}"/>
              </a:ext>
            </a:extLst>
          </p:cNvPr>
          <p:cNvSpPr txBox="1"/>
          <p:nvPr userDrawn="1"/>
        </p:nvSpPr>
        <p:spPr>
          <a:xfrm>
            <a:off x="667330" y="5930556"/>
            <a:ext cx="3987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b="0" i="0" dirty="0">
                <a:solidFill>
                  <a:srgbClr val="FFFFFF">
                    <a:alpha val="41000"/>
                  </a:srgbClr>
                </a:solidFill>
                <a:effectLst/>
                <a:latin typeface="+mj-lt"/>
              </a:rPr>
              <a:t>Visit our </a:t>
            </a:r>
            <a:r>
              <a:rPr lang="en-CA" sz="1600" b="1" i="0" dirty="0">
                <a:solidFill>
                  <a:srgbClr val="FFFFFF">
                    <a:alpha val="41000"/>
                  </a:srgbClr>
                </a:solidFill>
                <a:effectLst/>
                <a:latin typeface="+mj-lt"/>
              </a:rPr>
              <a:t>FAQ</a:t>
            </a:r>
            <a:r>
              <a:rPr lang="en-CA" sz="1600" b="0" i="0" dirty="0">
                <a:solidFill>
                  <a:srgbClr val="FFFFFF">
                    <a:alpha val="41000"/>
                  </a:srgbClr>
                </a:solidFill>
                <a:effectLst/>
                <a:latin typeface="+mj-lt"/>
              </a:rPr>
              <a:t> : www.presentationgo.com/faq/</a:t>
            </a:r>
            <a:endParaRPr lang="en-US" sz="1600" dirty="0">
              <a:solidFill>
                <a:schemeClr val="bg1">
                  <a:alpha val="41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4583D-5F52-5CCA-15D5-7930FA3C51C6}"/>
              </a:ext>
            </a:extLst>
          </p:cNvPr>
          <p:cNvSpPr txBox="1"/>
          <p:nvPr userDrawn="1"/>
        </p:nvSpPr>
        <p:spPr>
          <a:xfrm>
            <a:off x="667329" y="5444784"/>
            <a:ext cx="4722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0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Questions or Need Help ?</a:t>
            </a:r>
            <a:endParaRPr lang="en-US" sz="28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8B69F-8B28-B3CE-9A02-F10F35E92CA5}"/>
              </a:ext>
            </a:extLst>
          </p:cNvPr>
          <p:cNvSpPr txBox="1"/>
          <p:nvPr userDrawn="1"/>
        </p:nvSpPr>
        <p:spPr>
          <a:xfrm>
            <a:off x="5976600" y="1307664"/>
            <a:ext cx="64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0" i="0" dirty="0">
                <a:solidFill>
                  <a:srgbClr val="FFFFFF">
                    <a:alpha val="40157"/>
                  </a:srgbClr>
                </a:solidFill>
                <a:effectLst/>
                <a:latin typeface="+mj-lt"/>
              </a:rPr>
              <a:t>.com</a:t>
            </a:r>
            <a:endParaRPr lang="en-US" dirty="0">
              <a:solidFill>
                <a:schemeClr val="bg1">
                  <a:alpha val="40157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5391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hyperlink" Target="http://www.presentationgo.com/" TargetMode="Externa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6C7F94-AC2B-4ABA-8168-9102B651E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9E8B4-649E-4A8B-B6EE-CC6C44EF5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133B5-720F-4407-9AAB-3B5E07088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1AE36-FE6A-4E21-B178-40F00D0FF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54408-120E-4EFA-AC50-C50B6469D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C6227D8-43D1-6F59-2F4A-0D164ABB46E9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EBB6DAD-2D19-22D8-D325-48E4C06483B5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6D113A-7098-A8F6-B512-65A2C270E5E6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719C4B-3A81-8B41-8764-1C3140D61E35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EDA781C-C3C8-7FD2-064A-A45FF95D5ADA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15" name="Shape">
                <a:extLst>
                  <a:ext uri="{FF2B5EF4-FFF2-40B4-BE49-F238E27FC236}">
                    <a16:creationId xmlns:a16="http://schemas.microsoft.com/office/drawing/2014/main" id="{BBF8DDDE-4715-C721-EDD6-8276B9CABDCB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" name="Shape">
                <a:extLst>
                  <a:ext uri="{FF2B5EF4-FFF2-40B4-BE49-F238E27FC236}">
                    <a16:creationId xmlns:a16="http://schemas.microsoft.com/office/drawing/2014/main" id="{E99CA6D1-85DC-6862-DE31-B41118799088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4A91C07A-C5D1-A62E-D0BE-111C373A12B2}"/>
              </a:ext>
            </a:extLst>
          </p:cNvPr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11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8564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1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4" t="8656" r="3788"/>
          <a:stretch/>
        </p:blipFill>
        <p:spPr>
          <a:xfrm>
            <a:off x="0" y="-18474"/>
            <a:ext cx="12192000" cy="6918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12729" y="2062155"/>
            <a:ext cx="4946073" cy="1200329"/>
          </a:xfrm>
          <a:prstGeom prst="rect">
            <a:avLst/>
          </a:prstGeom>
          <a:solidFill>
            <a:srgbClr val="1891AF">
              <a:alpha val="3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Sistem</a:t>
            </a:r>
            <a:r>
              <a:rPr lang="en-US" sz="2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de </a:t>
            </a:r>
            <a:r>
              <a:rPr lang="en-US" sz="2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recomandare</a:t>
            </a:r>
            <a:r>
              <a:rPr lang="en-US" sz="2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en-US" sz="2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pentru</a:t>
            </a:r>
            <a:r>
              <a:rPr lang="en-US" sz="2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en-US" sz="2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cărți</a:t>
            </a:r>
            <a:r>
              <a:rPr lang="en-US" sz="2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: </a:t>
            </a:r>
            <a:r>
              <a:rPr lang="en-US" sz="2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implementare</a:t>
            </a:r>
            <a:r>
              <a:rPr lang="en-US" sz="2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, </a:t>
            </a:r>
            <a:r>
              <a:rPr lang="en-US" sz="2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analiză</a:t>
            </a:r>
            <a:r>
              <a:rPr lang="en-US" sz="2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en-US" sz="2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și</a:t>
            </a:r>
            <a:r>
              <a:rPr lang="en-US" sz="2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en-US" sz="2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interpretare</a:t>
            </a:r>
            <a:r>
              <a:rPr lang="en-US" sz="2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en-US" sz="2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rezultate</a:t>
            </a:r>
            <a:endParaRPr lang="en-US" sz="2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79854" y="985830"/>
            <a:ext cx="1716521" cy="338554"/>
          </a:xfrm>
          <a:prstGeom prst="rect">
            <a:avLst/>
          </a:prstGeom>
          <a:solidFill>
            <a:srgbClr val="1891AF">
              <a:alpha val="48000"/>
            </a:srgbClr>
          </a:solidFill>
          <a:ln>
            <a:solidFill>
              <a:srgbClr val="6DCBE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Lican</a:t>
            </a:r>
            <a:r>
              <a:rPr lang="en-US" sz="1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ro-RO" sz="1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Ștefăniță</a:t>
            </a:r>
            <a:endParaRPr lang="en-US" sz="1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12654" y="981060"/>
            <a:ext cx="1745096" cy="338554"/>
          </a:xfrm>
          <a:prstGeom prst="rect">
            <a:avLst/>
          </a:prstGeom>
          <a:solidFill>
            <a:srgbClr val="1891AF">
              <a:alpha val="48000"/>
            </a:srgbClr>
          </a:solidFill>
          <a:ln>
            <a:solidFill>
              <a:srgbClr val="6DCBE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o-RO" sz="1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Bălălău Andrei</a:t>
            </a:r>
            <a:endParaRPr lang="en-US" sz="1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32069" y="3876698"/>
            <a:ext cx="707392" cy="276999"/>
          </a:xfrm>
          <a:prstGeom prst="rect">
            <a:avLst/>
          </a:prstGeom>
          <a:solidFill>
            <a:srgbClr val="1891AF">
              <a:alpha val="48000"/>
            </a:srgbClr>
          </a:solidFill>
          <a:ln>
            <a:solidFill>
              <a:srgbClr val="6DCBE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12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89754" y="1247217"/>
            <a:ext cx="890386" cy="338554"/>
          </a:xfrm>
          <a:prstGeom prst="rect">
            <a:avLst/>
          </a:prstGeom>
          <a:solidFill>
            <a:srgbClr val="1891AF">
              <a:alpha val="30000"/>
            </a:srgbClr>
          </a:solidFill>
          <a:ln>
            <a:solidFill>
              <a:srgbClr val="6DCBE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1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33737" y="3440544"/>
            <a:ext cx="890386" cy="338554"/>
          </a:xfrm>
          <a:prstGeom prst="rect">
            <a:avLst/>
          </a:prstGeom>
          <a:solidFill>
            <a:srgbClr val="1891AF">
              <a:alpha val="38000"/>
            </a:srgbClr>
          </a:solidFill>
          <a:ln>
            <a:solidFill>
              <a:srgbClr val="6DCBE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1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68416" y="3398545"/>
            <a:ext cx="890386" cy="338554"/>
          </a:xfrm>
          <a:prstGeom prst="rect">
            <a:avLst/>
          </a:prstGeom>
          <a:solidFill>
            <a:srgbClr val="1891AF">
              <a:alpha val="38000"/>
            </a:srgbClr>
          </a:solidFill>
          <a:ln>
            <a:solidFill>
              <a:srgbClr val="6DCBE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1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995254" y="6372994"/>
            <a:ext cx="6201491" cy="338554"/>
          </a:xfrm>
          <a:prstGeom prst="rect">
            <a:avLst/>
          </a:prstGeom>
          <a:solidFill>
            <a:srgbClr val="1891AF">
              <a:alpha val="48000"/>
            </a:srgb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o-RO" sz="1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Folosind algoritm</a:t>
            </a:r>
            <a:r>
              <a:rPr lang="en-US" sz="16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ul</a:t>
            </a:r>
            <a:r>
              <a:rPr lang="en-US" sz="1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- </a:t>
            </a:r>
            <a:r>
              <a:rPr lang="ro-RO" sz="1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descompunerea valorilor singulare</a:t>
            </a:r>
            <a:endParaRPr lang="en-US" sz="1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206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58A193-B1C8-E416-32F0-5145955064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4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96478-0438-4D0D-A7E9-EF6F93B41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2089" y="3279158"/>
            <a:ext cx="2659601" cy="915308"/>
          </a:xfrm>
          <a:scene3d>
            <a:camera prst="perspectiveHeroicExtremeLeftFacing">
              <a:rot lat="600000" lon="2067641" rev="21594000"/>
            </a:camera>
            <a:lightRig rig="threePt" dir="t"/>
          </a:scene3d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Cuprins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2917B-2853-4208-8FE6-72388B0C5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39" y="1205143"/>
            <a:ext cx="6033117" cy="4447714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000" b="1" dirty="0">
                <a:solidFill>
                  <a:srgbClr val="19686B"/>
                </a:solidFill>
                <a:latin typeface="Century Gothic" panose="020B0502020202020204" pitchFamily="34" charset="0"/>
              </a:rPr>
              <a:t>Introducere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000" b="1" dirty="0">
                <a:solidFill>
                  <a:srgbClr val="19686B"/>
                </a:solidFill>
                <a:latin typeface="Century Gothic" panose="020B0502020202020204" pitchFamily="34" charset="0"/>
              </a:rPr>
              <a:t>Arhitectura sistemului de recomandare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000" b="1" dirty="0">
                <a:solidFill>
                  <a:srgbClr val="19686B"/>
                </a:solidFill>
                <a:latin typeface="Century Gothic" panose="020B0502020202020204" pitchFamily="34" charset="0"/>
              </a:rPr>
              <a:t>Prezentare implementare (algoritmi, formule matematice)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000" b="1" dirty="0">
                <a:solidFill>
                  <a:srgbClr val="19686B"/>
                </a:solidFill>
                <a:latin typeface="Century Gothic" panose="020B0502020202020204" pitchFamily="34" charset="0"/>
              </a:rPr>
              <a:t>Interpretarea rezultatelor obținute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000" b="1" dirty="0">
                <a:solidFill>
                  <a:srgbClr val="19686B"/>
                </a:solidFill>
                <a:latin typeface="Century Gothic" panose="020B0502020202020204" pitchFamily="34" charset="0"/>
              </a:rPr>
              <a:t>Beneficii și îmbunătățiri</a:t>
            </a:r>
            <a:endParaRPr lang="en-US" sz="2000" b="1" dirty="0">
              <a:solidFill>
                <a:srgbClr val="19686B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398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992C68-16F1-F63F-4550-86E1364D83C3}"/>
              </a:ext>
            </a:extLst>
          </p:cNvPr>
          <p:cNvSpPr/>
          <p:nvPr/>
        </p:nvSpPr>
        <p:spPr>
          <a:xfrm rot="10800000">
            <a:off x="0" y="365124"/>
            <a:ext cx="12192000" cy="1110107"/>
          </a:xfrm>
          <a:prstGeom prst="rect">
            <a:avLst/>
          </a:prstGeom>
          <a:gradFill>
            <a:gsLst>
              <a:gs pos="0">
                <a:schemeClr val="bg1"/>
              </a:gs>
              <a:gs pos="94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367" y="257395"/>
            <a:ext cx="6395434" cy="1325563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rgbClr val="19686B"/>
                </a:solidFill>
                <a:latin typeface="Century Gothic" panose="020B0502020202020204" pitchFamily="34" charset="0"/>
              </a:rPr>
              <a:t>1 </a:t>
            </a:r>
            <a:r>
              <a:rPr lang="en-US" dirty="0">
                <a:solidFill>
                  <a:srgbClr val="19686B"/>
                </a:solidFill>
                <a:latin typeface="Century Gothic" panose="020B0502020202020204" pitchFamily="34" charset="0"/>
              </a:rPr>
              <a:t>| </a:t>
            </a:r>
            <a:r>
              <a:rPr lang="en-US" dirty="0" err="1">
                <a:solidFill>
                  <a:srgbClr val="19686B"/>
                </a:solidFill>
                <a:latin typeface="Century Gothic" panose="020B0502020202020204" pitchFamily="34" charset="0"/>
              </a:rPr>
              <a:t>Introducere</a:t>
            </a:r>
            <a:endParaRPr lang="en-US" dirty="0">
              <a:solidFill>
                <a:srgbClr val="19686B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CD26F59-6975-4286-98FB-2D4E00457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2B7600-67E3-4D97-B453-880E2742B9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7406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610911" y="1587686"/>
            <a:ext cx="6814009" cy="443198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21594000" scaled="0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este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un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sistem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de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recomandare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Un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sistem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care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sugerează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conținut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personalizat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utilizatori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bazându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-se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datele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Exemple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populare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9686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Amazon (e-commerce), Netflix (streaming video), Goodreads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cărți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).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Obiectivul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nostru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(</a:t>
            </a:r>
            <a:r>
              <a:rPr kumimoji="0" lang="ro-RO" altLang="en-US" sz="2000" b="1" i="0" u="none" strike="noStrike" cap="none" normalizeH="0" baseline="0" dirty="0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în</a:t>
            </a:r>
            <a:r>
              <a:rPr kumimoji="0" lang="ro-RO" altLang="en-US" sz="2000" b="1" i="0" u="none" strike="noStrike" cap="none" normalizeH="0" dirty="0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cadrul </a:t>
            </a:r>
            <a:r>
              <a:rPr lang="en-US" altLang="en-US" sz="2000" b="1" dirty="0" err="1"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proiectului</a:t>
            </a:r>
            <a:r>
              <a:rPr kumimoji="0" lang="ro-RO" altLang="en-US" sz="2000" b="1" i="0" u="none" strike="noStrike" cap="none" normalizeH="0" dirty="0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)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9686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ezvoltarea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unui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sistem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care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prezice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rating-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urile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un set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cărți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generează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astfel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recomandări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personalizate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5154133"/>
      </p:ext>
    </p:extLst>
  </p:cSld>
  <p:clrMapOvr>
    <a:masterClrMapping/>
  </p:clrMapOvr>
  <p:transition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992C68-16F1-F63F-4550-86E1364D83C3}"/>
              </a:ext>
            </a:extLst>
          </p:cNvPr>
          <p:cNvSpPr/>
          <p:nvPr/>
        </p:nvSpPr>
        <p:spPr>
          <a:xfrm rot="10800000">
            <a:off x="0" y="365124"/>
            <a:ext cx="12192000" cy="1110107"/>
          </a:xfrm>
          <a:prstGeom prst="rect">
            <a:avLst/>
          </a:prstGeom>
          <a:gradFill>
            <a:gsLst>
              <a:gs pos="0">
                <a:schemeClr val="bg1"/>
              </a:gs>
              <a:gs pos="94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367" y="257395"/>
            <a:ext cx="6395434" cy="1325563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rgbClr val="19686B"/>
                </a:solidFill>
                <a:latin typeface="Century Gothic" panose="020B0502020202020204" pitchFamily="34" charset="0"/>
              </a:rPr>
              <a:t>1 </a:t>
            </a:r>
            <a:r>
              <a:rPr lang="en-US" dirty="0">
                <a:solidFill>
                  <a:srgbClr val="19686B"/>
                </a:solidFill>
                <a:latin typeface="Century Gothic" panose="020B0502020202020204" pitchFamily="34" charset="0"/>
              </a:rPr>
              <a:t>| </a:t>
            </a:r>
            <a:r>
              <a:rPr lang="en-US" dirty="0" err="1">
                <a:solidFill>
                  <a:srgbClr val="19686B"/>
                </a:solidFill>
                <a:latin typeface="Century Gothic" panose="020B0502020202020204" pitchFamily="34" charset="0"/>
              </a:rPr>
              <a:t>Introducere</a:t>
            </a:r>
            <a:endParaRPr lang="en-US" dirty="0">
              <a:solidFill>
                <a:srgbClr val="19686B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CD26F59-6975-4286-98FB-2D4E00457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2B7600-67E3-4D97-B453-880E2742B9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7406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381" y="1578251"/>
            <a:ext cx="7445238" cy="4562309"/>
          </a:xfrm>
          <a:prstGeom prst="rect">
            <a:avLst/>
          </a:prstGeom>
          <a:ln w="76200">
            <a:solidFill>
              <a:srgbClr val="6DCBE0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3812748" y="6248286"/>
            <a:ext cx="4898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6DCBE0"/>
                </a:solidFill>
              </a:rPr>
              <a:t>[</a:t>
            </a:r>
            <a:r>
              <a:rPr lang="ro-RO" b="1" dirty="0">
                <a:ln>
                  <a:solidFill>
                    <a:srgbClr val="6DCBE0"/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generic de funcționare a recomandărilor</a:t>
            </a:r>
            <a:r>
              <a:rPr lang="en-US" sz="2400" b="1" dirty="0">
                <a:solidFill>
                  <a:srgbClr val="6DCBE0"/>
                </a:solidFill>
              </a:rPr>
              <a:t>]</a:t>
            </a:r>
            <a:endParaRPr lang="en-US" b="1" dirty="0">
              <a:solidFill>
                <a:srgbClr val="6DCB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260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5B2325-341A-F241-9005-9FD9511AE207}"/>
              </a:ext>
            </a:extLst>
          </p:cNvPr>
          <p:cNvSpPr/>
          <p:nvPr/>
        </p:nvSpPr>
        <p:spPr>
          <a:xfrm>
            <a:off x="0" y="365124"/>
            <a:ext cx="12192000" cy="1110107"/>
          </a:xfrm>
          <a:prstGeom prst="rect">
            <a:avLst/>
          </a:prstGeom>
          <a:gradFill>
            <a:gsLst>
              <a:gs pos="0">
                <a:schemeClr val="bg1"/>
              </a:gs>
              <a:gs pos="94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395"/>
            <a:ext cx="6243320" cy="1325563"/>
          </a:xfrm>
        </p:spPr>
        <p:txBody>
          <a:bodyPr/>
          <a:lstStyle/>
          <a:p>
            <a:r>
              <a:rPr lang="en-US" dirty="0"/>
              <a:t>2 | </a:t>
            </a:r>
            <a:r>
              <a:rPr lang="en-US" dirty="0" err="1"/>
              <a:t>Arhitectura</a:t>
            </a:r>
            <a:r>
              <a:rPr lang="en-US" dirty="0"/>
              <a:t> </a:t>
            </a:r>
            <a:r>
              <a:rPr lang="en-US" dirty="0" err="1"/>
              <a:t>aplicației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92738-5ABF-4B0E-8DE3-867BE4D4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2B7600-67E3-4D97-B453-880E2742B9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7406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461278"/>
            <a:ext cx="5857239" cy="512448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21594000" scaled="0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Fluxul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procesului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7406D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filtrare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pregătire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factorizare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matricială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(SVD).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Calculul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rating-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urilor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prezise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recomandărilor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Biblioteci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din CSV</a:t>
            </a:r>
            <a:r>
              <a:rPr kumimoji="0" lang="ro-RO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ro-RO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(calcule numerice)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SciPy</a:t>
            </a:r>
            <a:r>
              <a:rPr kumimoji="0" lang="ro-RO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(gestionarea</a:t>
            </a:r>
            <a:r>
              <a:rPr kumimoji="0" lang="ro-RO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calculelor </a:t>
            </a:r>
            <a:r>
              <a:rPr kumimoji="0" lang="ro-RO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 matricea</a:t>
            </a:r>
            <a:r>
              <a:rPr kumimoji="0" lang="ro-RO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rară)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</a:t>
            </a:r>
            <a:r>
              <a:rPr kumimoji="0" lang="ro-RO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(vizualizare</a:t>
            </a:r>
            <a:r>
              <a:rPr kumimoji="0" lang="ro-RO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grafică)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o-R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ro-RO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vizualizarea datelor)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766716"/>
      </p:ext>
    </p:extLst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5B2325-341A-F241-9005-9FD9511AE207}"/>
              </a:ext>
            </a:extLst>
          </p:cNvPr>
          <p:cNvSpPr/>
          <p:nvPr/>
        </p:nvSpPr>
        <p:spPr>
          <a:xfrm>
            <a:off x="0" y="365124"/>
            <a:ext cx="12192000" cy="1110107"/>
          </a:xfrm>
          <a:prstGeom prst="rect">
            <a:avLst/>
          </a:prstGeom>
          <a:gradFill>
            <a:gsLst>
              <a:gs pos="0">
                <a:schemeClr val="bg1"/>
              </a:gs>
              <a:gs pos="94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395"/>
            <a:ext cx="10093960" cy="1325563"/>
          </a:xfrm>
        </p:spPr>
        <p:txBody>
          <a:bodyPr/>
          <a:lstStyle/>
          <a:p>
            <a:r>
              <a:rPr lang="en-US" dirty="0"/>
              <a:t>2 | </a:t>
            </a:r>
            <a:r>
              <a:rPr lang="ro-RO" dirty="0"/>
              <a:t>Seturi de date și procesări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92738-5ABF-4B0E-8DE3-867BE4D4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2B7600-67E3-4D97-B453-880E2742B9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7406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59897"/>
            <a:ext cx="11353800" cy="466281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38000"/>
                </a:schemeClr>
              </a:gs>
            </a:gsLst>
            <a:lin ang="21594000" scaled="0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o-RO" altLang="en-US" sz="1800" b="1" dirty="0">
                <a:solidFill>
                  <a:srgbClr val="17406D"/>
                </a:solidFill>
                <a:latin typeface="Century Gothic" panose="020B0502020202020204" pitchFamily="34" charset="0"/>
              </a:rPr>
              <a:t>Books.csv: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o-RO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Conține informații despre cărți (ISBN, titlu, autor).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o-RO" altLang="en-US" sz="1000" b="1" dirty="0">
              <a:solidFill>
                <a:srgbClr val="17406D"/>
              </a:solidFill>
              <a:latin typeface="Century Gothic" panose="020B0502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o-RO" altLang="en-US" sz="1800" b="1" dirty="0">
                <a:solidFill>
                  <a:srgbClr val="17406D"/>
                </a:solidFill>
                <a:latin typeface="Century Gothic" panose="020B0502020202020204" pitchFamily="34" charset="0"/>
              </a:rPr>
              <a:t>Ratings.csv: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o-RO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Conține rating</a:t>
            </a:r>
            <a:r>
              <a:rPr lang="en-US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-</a:t>
            </a:r>
            <a:r>
              <a:rPr lang="ro-RO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urile atribuite de utilizatori </a:t>
            </a:r>
            <a:r>
              <a:rPr lang="en-US" altLang="en-US" sz="1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pentru</a:t>
            </a:r>
            <a:r>
              <a:rPr lang="en-US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ro-RO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cărțil</a:t>
            </a:r>
            <a:r>
              <a:rPr lang="en-US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e evaluate</a:t>
            </a:r>
            <a:r>
              <a:rPr lang="ro-RO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o-RO" altLang="en-US" sz="1000" b="1" dirty="0">
              <a:solidFill>
                <a:srgbClr val="17406D"/>
              </a:solidFill>
              <a:latin typeface="Century Gothic" panose="020B0502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o-RO" altLang="en-US" sz="1800" b="1" dirty="0">
                <a:solidFill>
                  <a:srgbClr val="17406D"/>
                </a:solidFill>
                <a:latin typeface="Century Gothic" panose="020B0502020202020204" pitchFamily="34" charset="0"/>
              </a:rPr>
              <a:t>Procesare: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o-RO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Eliminarea duplicatelor</a:t>
            </a:r>
            <a:r>
              <a:rPr lang="en-US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 (prima </a:t>
            </a:r>
            <a:r>
              <a:rPr lang="en-US" altLang="en-US" sz="1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etap</a:t>
            </a:r>
            <a:r>
              <a:rPr lang="ro-RO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ă).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o-RO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Filtrarea utilizatorilor și cărților fără suficiente evaluări (a doua etapă).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o-RO" altLang="en-US" sz="1000" b="1" dirty="0">
              <a:solidFill>
                <a:srgbClr val="17406D"/>
              </a:solidFill>
              <a:latin typeface="Century Gothic" panose="020B0502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o-RO" altLang="en-US" sz="1800" b="1" dirty="0">
                <a:solidFill>
                  <a:srgbClr val="17406D"/>
                </a:solidFill>
                <a:latin typeface="Century Gothic" panose="020B0502020202020204" pitchFamily="34" charset="0"/>
              </a:rPr>
              <a:t>Statistici: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o-RO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Dimensiunea finală a datelor (filtrate): </a:t>
            </a:r>
            <a:r>
              <a:rPr lang="en-US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u</a:t>
            </a:r>
            <a:r>
              <a:rPr lang="ro-RO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tilizatori: </a:t>
            </a:r>
            <a:r>
              <a:rPr lang="ro-RO" altLang="en-US" sz="16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17,744</a:t>
            </a:r>
            <a:r>
              <a:rPr lang="en-US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; c</a:t>
            </a:r>
            <a:r>
              <a:rPr lang="ro-RO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ărți: </a:t>
            </a:r>
            <a:r>
              <a:rPr lang="ro-RO" altLang="en-US" sz="16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15,055</a:t>
            </a:r>
            <a:r>
              <a:rPr lang="en-US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; </a:t>
            </a:r>
            <a:endParaRPr lang="ro-RO" altLang="en-US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o-RO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Densitatea matricei: </a:t>
            </a:r>
            <a:r>
              <a:rPr lang="ro-RO" altLang="en-US" sz="16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0.15%</a:t>
            </a:r>
            <a:r>
              <a:rPr lang="ro-RO" altLang="en-US" sz="1600" dirty="0">
                <a:solidFill>
                  <a:srgbClr val="17406D"/>
                </a:solidFill>
                <a:latin typeface="Century Gothic" panose="020B0502020202020204" pitchFamily="34" charset="0"/>
              </a:rPr>
              <a:t> </a:t>
            </a:r>
            <a:r>
              <a:rPr lang="ro-RO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- </a:t>
            </a:r>
            <a:r>
              <a:rPr lang="en-US" sz="1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proporția</a:t>
            </a:r>
            <a:r>
              <a:rPr 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 de </a:t>
            </a:r>
            <a:r>
              <a:rPr lang="en-US" sz="1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elemente</a:t>
            </a:r>
            <a:r>
              <a:rPr 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nenule</a:t>
            </a:r>
            <a:r>
              <a:rPr 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 din </a:t>
            </a:r>
            <a:r>
              <a:rPr lang="en-US" sz="1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matrice</a:t>
            </a:r>
            <a:r>
              <a:rPr 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raportată</a:t>
            </a:r>
            <a:r>
              <a:rPr 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 la </a:t>
            </a:r>
            <a:r>
              <a:rPr lang="en-US" sz="1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numărul</a:t>
            </a:r>
            <a:r>
              <a:rPr 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 total de </a:t>
            </a:r>
            <a:r>
              <a:rPr lang="en-US" sz="16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elemente</a:t>
            </a:r>
            <a:r>
              <a:rPr lang="ro-RO" alt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.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72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5FCB5A-FB55-5066-E51A-A5827AE0CCB4}"/>
              </a:ext>
            </a:extLst>
          </p:cNvPr>
          <p:cNvSpPr/>
          <p:nvPr/>
        </p:nvSpPr>
        <p:spPr>
          <a:xfrm>
            <a:off x="0" y="416560"/>
            <a:ext cx="12192000" cy="731202"/>
          </a:xfrm>
          <a:prstGeom prst="rect">
            <a:avLst/>
          </a:prstGeom>
          <a:solidFill>
            <a:srgbClr val="19686B">
              <a:alpha val="50000"/>
            </a:srgb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530" y="337847"/>
            <a:ext cx="11607800" cy="80991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3 | </a:t>
            </a:r>
            <a:r>
              <a:rPr lang="en-US" sz="44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Implementare</a:t>
            </a:r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 - </a:t>
            </a:r>
            <a:r>
              <a:rPr lang="en-US" sz="44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formule</a:t>
            </a:r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matematice</a:t>
            </a:r>
            <a:endParaRPr lang="en-US" sz="4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640428" y="2078733"/>
                <a:ext cx="8911144" cy="3322576"/>
              </a:xfrm>
              <a:prstGeom prst="rect">
                <a:avLst/>
              </a:prstGeom>
              <a:solidFill>
                <a:srgbClr val="19686B">
                  <a:alpha val="49000"/>
                </a:srgbClr>
              </a:solidFill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square">
                <a:spAutoFit/>
              </a:bodyPr>
              <a:lstStyle/>
              <a:p>
                <a:pPr marL="342900" indent="-342900" algn="ctr"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Matricea </a:t>
                </a:r>
                <a:r>
                  <a:rPr lang="en-US" sz="2000" b="1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ratingurilor</a:t>
                </a:r>
                <a:r>
                  <a:rPr lang="ro-RO" sz="2000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</a:p>
              <a:p>
                <a:pPr algn="ctr"/>
                <a:r>
                  <a:rPr lang="ro-RO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ro-RO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  <m:r>
                          <a:rPr lang="ro-RO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</m:t>
                        </m:r>
                        <m:r>
                          <a:rPr lang="ro-RO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,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unde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:</a:t>
                </a:r>
                <a:r>
                  <a:rPr lang="ro-RO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𝑚</a:t>
                </a:r>
                <a:r>
                  <a:rPr lang="ro-RO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-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numărul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de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utilizatori</a:t>
                </a:r>
                <a:r>
                  <a:rPr lang="ro-RO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și 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𝑛</a:t>
                </a:r>
                <a:r>
                  <a:rPr lang="ro-RO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-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numărul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de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cărți</a:t>
                </a:r>
                <a:r>
                  <a:rPr lang="ro-RO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din baza de date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.</a:t>
                </a:r>
                <a:r>
                  <a:rPr lang="ro-RO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Elementele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𝑅</a:t>
                </a:r>
                <a:r>
                  <a:rPr lang="en-US" baseline="-25000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𝑖𝑗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: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ratingul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dat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de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utilizatorul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𝑖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cărții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𝑗.</a:t>
                </a:r>
                <a:endParaRPr lang="ro-RO" dirty="0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  <a:p>
                <a:pPr algn="ctr"/>
                <a:endParaRPr lang="en-US" dirty="0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  <a:p>
                <a:pPr marL="342900" indent="-342900" algn="ctr">
                  <a:buFont typeface="Wingdings" panose="05000000000000000000" pitchFamily="2" charset="2"/>
                  <a:buChar char="Ø"/>
                </a:pPr>
                <a:r>
                  <a:rPr lang="en-US" sz="2000" b="1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Factorizarea</a:t>
                </a:r>
                <a:r>
                  <a:rPr lang="en-US" sz="2000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sz="2000" b="1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matricei</a:t>
                </a:r>
                <a:r>
                  <a:rPr lang="en-US" sz="2000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cu SVD:</a:t>
                </a:r>
                <a:endParaRPr lang="ro-RO" sz="2000" b="1" dirty="0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  <a:p>
                <a:pPr algn="ctr"/>
                <a:r>
                  <a:rPr lang="ro-RO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	</a:t>
                </a:r>
                <a:r>
                  <a:rPr lang="en-US" b="1" i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R</a:t>
                </a:r>
                <a:r>
                  <a:rPr lang="ro-RO" b="1" i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b="1" i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≈</a:t>
                </a:r>
                <a:r>
                  <a:rPr lang="ro-RO" b="1" i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b="1" i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U</a:t>
                </a:r>
                <a:r>
                  <a:rPr lang="el-GR" b="1" i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Σ</a:t>
                </a:r>
                <a:r>
                  <a:rPr lang="en-US" b="1" i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V</a:t>
                </a:r>
                <a:r>
                  <a:rPr lang="en-US" b="1" i="1" baseline="30000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T</a:t>
                </a:r>
                <a:r>
                  <a:rPr lang="en-US" b="1" i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,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unde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:</a:t>
                </a:r>
                <a:r>
                  <a:rPr lang="ro-RO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𝑈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-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matricea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preferințelor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utilizatorilor</a:t>
                </a:r>
                <a:r>
                  <a:rPr lang="ro-RO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, </a:t>
                </a:r>
                <a:r>
                  <a:rPr lang="el-GR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Σ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-</a:t>
                </a:r>
                <a:r>
                  <a:rPr lang="el-GR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ro-RO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matricea diagonală, cu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valori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singulare</a:t>
                </a:r>
                <a:r>
                  <a:rPr lang="ro-RO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și</a:t>
                </a:r>
                <a:r>
                  <a:rPr lang="ro-RO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𝑉</a:t>
                </a:r>
                <a:r>
                  <a:rPr lang="en-US" b="1" baseline="30000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𝑇</a:t>
                </a:r>
                <a:r>
                  <a:rPr lang="en-US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-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matricea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caracteristicilor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cărților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.</a:t>
                </a:r>
                <a:endParaRPr lang="ro-RO" dirty="0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  <a:p>
                <a:pPr algn="ctr"/>
                <a:endParaRPr lang="en-US" dirty="0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  <a:p>
                <a:pPr marL="342900" indent="-342900" algn="ctr">
                  <a:buFont typeface="Wingdings" panose="05000000000000000000" pitchFamily="2" charset="2"/>
                  <a:buChar char="Ø"/>
                </a:pPr>
                <a:r>
                  <a:rPr lang="en-US" sz="2000" b="1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Prezicerea</a:t>
                </a:r>
                <a:r>
                  <a:rPr lang="en-US" sz="2000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rating-</a:t>
                </a:r>
                <a:r>
                  <a:rPr lang="en-US" sz="2000" b="1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urilor</a:t>
                </a:r>
                <a:r>
                  <a:rPr lang="en-US" sz="2000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: </a:t>
                </a:r>
                <a:endParaRPr lang="ro-RO" sz="2000" b="1" dirty="0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  <a:p>
                <a:pPr algn="ctr"/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Dedus</a:t>
                </a:r>
                <a:r>
                  <a:rPr lang="ro-RO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ă de pe urma DVS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:</a:t>
                </a:r>
                <a:r>
                  <a:rPr lang="ro-RO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𝑅</m:t>
                    </m:r>
                    <m:r>
                      <m:rPr>
                        <m:nor/>
                      </m:rPr>
                      <a:rPr lang="en-US" b="1" baseline="-250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𝑖𝑗</m:t>
                    </m:r>
                    <m:r>
                      <m:rPr>
                        <m:nor/>
                      </m:rPr>
                      <a:rPr lang="ro-RO" b="1" baseline="-250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=</m:t>
                    </m:r>
                    <m:r>
                      <m:rPr>
                        <m:nor/>
                      </m:rPr>
                      <a:rPr lang="ro-RO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𝜇</m:t>
                    </m:r>
                    <m:r>
                      <m:rPr>
                        <m:nor/>
                      </m:rPr>
                      <a:rPr lang="ro-RO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+</m:t>
                    </m:r>
                    <m:r>
                      <m:rPr>
                        <m:nor/>
                      </m:rPr>
                      <a:rPr lang="ro-RO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𝑏</m:t>
                    </m:r>
                    <m:r>
                      <m:rPr>
                        <m:nor/>
                      </m:rPr>
                      <a:rPr lang="en-US" b="1" baseline="-250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𝑖</m:t>
                    </m:r>
                    <m:r>
                      <m:rPr>
                        <m:nor/>
                      </m:rPr>
                      <a:rPr lang="ro-RO" b="1" baseline="-250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+</m:t>
                    </m:r>
                    <m:r>
                      <m:rPr>
                        <m:nor/>
                      </m:rPr>
                      <a:rPr lang="ro-RO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𝑏</m:t>
                    </m:r>
                    <m:r>
                      <m:rPr>
                        <m:nor/>
                      </m:rPr>
                      <a:rPr lang="ro-RO" b="1" i="1" baseline="-25000" dirty="0" smtClean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j</m:t>
                    </m:r>
                    <m:r>
                      <m:rPr>
                        <m:nor/>
                      </m:rPr>
                      <a:rPr lang="ro-RO" b="1" i="0" dirty="0" smtClean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ro-RO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ro-RO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ro-RO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ro-RO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ro-RO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  <m:e>
                        <m:sSub>
                          <m:sSubPr>
                            <m:ctrlPr>
                              <a:rPr lang="ro-RO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ro-RO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</m:sub>
                        </m:sSub>
                        <m:sSub>
                          <m:sSubPr>
                            <m:ctrlPr>
                              <a:rPr lang="ro-RO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𝜮</m:t>
                            </m:r>
                          </m:e>
                          <m:sub>
                            <m:r>
                              <a:rPr lang="ro-RO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  <m:sSub>
                          <m:sSubPr>
                            <m:ctrlPr>
                              <a:rPr lang="ro-RO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ro-RO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𝒇𝒋</m:t>
                            </m:r>
                          </m:sub>
                        </m:sSub>
                      </m:e>
                    </m:nary>
                  </m:oMath>
                </a14:m>
                <a:r>
                  <a:rPr lang="ro-RO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, cu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​ </a:t>
                </a:r>
                <a:r>
                  <a:rPr lang="en-US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𝜇</a:t>
                </a:r>
                <a:r>
                  <a:rPr lang="el-GR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: 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rating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mediu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global; </a:t>
                </a:r>
                <a:r>
                  <a:rPr lang="en-US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𝑏</a:t>
                </a:r>
                <a:r>
                  <a:rPr lang="en-US" b="1" baseline="-25000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𝑖</a:t>
                </a:r>
                <a:r>
                  <a:rPr lang="en-US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, 𝑏</a:t>
                </a:r>
                <a:r>
                  <a:rPr lang="en-US" b="1" i="1" baseline="-25000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j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: </a:t>
                </a:r>
                <a:r>
                  <a:rPr lang="en-US" i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bias-</a:t>
                </a:r>
                <a:r>
                  <a:rPr lang="en-US" i="1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uri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– </a:t>
                </a:r>
                <a:r>
                  <a:rPr lang="en-US" i="1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aprecieri</a:t>
                </a:r>
                <a:r>
                  <a:rPr lang="en-US" i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i="1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stricte</a:t>
                </a:r>
                <a:r>
                  <a:rPr lang="en-US" i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(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utilizator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/carte);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o-RO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𝒊𝒇</m:t>
                        </m:r>
                      </m:sub>
                    </m:sSub>
                    <m:sSub>
                      <m:sSubPr>
                        <m:ctrlPr>
                          <a:rPr lang="ro-RO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ro-RO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sSub>
                      <m:sSubPr>
                        <m:ctrlPr>
                          <a:rPr lang="ro-RO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ro-RO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𝒇𝒋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: </a:t>
                </a:r>
                <a:r>
                  <a:rPr lang="en-US" dirty="0" err="1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factori</a:t>
                </a:r>
                <a:r>
                  <a:rPr lang="en-US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 latent.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428" y="2078733"/>
                <a:ext cx="8911144" cy="33225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430123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5FCB5A-FB55-5066-E51A-A5827AE0CCB4}"/>
              </a:ext>
            </a:extLst>
          </p:cNvPr>
          <p:cNvSpPr/>
          <p:nvPr/>
        </p:nvSpPr>
        <p:spPr>
          <a:xfrm>
            <a:off x="0" y="416560"/>
            <a:ext cx="12192000" cy="731202"/>
          </a:xfrm>
          <a:prstGeom prst="rect">
            <a:avLst/>
          </a:prstGeom>
          <a:solidFill>
            <a:srgbClr val="19686B">
              <a:alpha val="50000"/>
            </a:srgb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337847"/>
            <a:ext cx="11607800" cy="80991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3 | </a:t>
            </a:r>
            <a:r>
              <a:rPr lang="en-US" sz="44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Implementarea</a:t>
            </a:r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practic</a:t>
            </a:r>
            <a:r>
              <a:rPr lang="ro-RO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ă - Etape</a:t>
            </a:r>
            <a:endParaRPr lang="en-US" sz="4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54527" y="1318029"/>
            <a:ext cx="6482945" cy="5232202"/>
          </a:xfrm>
          <a:prstGeom prst="rect">
            <a:avLst/>
          </a:prstGeom>
          <a:solidFill>
            <a:srgbClr val="19686B">
              <a:alpha val="49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Preprocesare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:</a:t>
            </a:r>
            <a:r>
              <a:rPr lang="ro-RO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</a:p>
          <a:p>
            <a:r>
              <a:rPr lang="ro-RO" b="1" dirty="0">
                <a:solidFill>
                  <a:schemeClr val="bg1"/>
                </a:solidFill>
                <a:latin typeface="Century Gothic" panose="020B0502020202020204" pitchFamily="34" charset="0"/>
              </a:rPr>
              <a:t>		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Încărcarea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datelor</a:t>
            </a:r>
            <a:endParaRPr lang="ro-RO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ro-RO" dirty="0">
                <a:solidFill>
                  <a:schemeClr val="bg1"/>
                </a:solidFill>
                <a:latin typeface="Century Gothic" panose="020B0502020202020204" pitchFamily="34" charset="0"/>
              </a:rPr>
              <a:t>		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Filtrarea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cărților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utilizatorilor</a:t>
            </a:r>
            <a:endParaRPr lang="ro-RO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ro-RO" sz="10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indent="-342900">
              <a:buAutoNum type="arabicPeriod" startAt="2"/>
            </a:pP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Centrare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matrice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: </a:t>
            </a:r>
            <a:endParaRPr lang="ro-RO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ro-RO" b="1" dirty="0">
                <a:solidFill>
                  <a:schemeClr val="bg1"/>
                </a:solidFill>
                <a:latin typeface="Century Gothic" panose="020B0502020202020204" pitchFamily="34" charset="0"/>
              </a:rPr>
              <a:t>		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Eliminarea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“bias-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urilor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”</a:t>
            </a:r>
            <a:r>
              <a:rPr lang="ro-RO" dirty="0">
                <a:solidFill>
                  <a:schemeClr val="bg1"/>
                </a:solidFill>
                <a:latin typeface="Century Gothic" panose="020B0502020202020204" pitchFamily="34" charset="0"/>
              </a:rPr>
              <a:t> ((ne)aprecierilor generale / individuale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ro-RO" dirty="0">
                <a:solidFill>
                  <a:schemeClr val="bg1"/>
                </a:solidFill>
                <a:latin typeface="Century Gothic" panose="020B0502020202020204" pitchFamily="34" charset="0"/>
              </a:rPr>
              <a:t>și filtrarea datelor rămase)</a:t>
            </a:r>
          </a:p>
          <a:p>
            <a:endParaRPr lang="ro-RO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indent="-342900">
              <a:buAutoNum type="arabicPeriod" startAt="3"/>
            </a:pP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Factorizare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: </a:t>
            </a:r>
            <a:endParaRPr lang="ro-RO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ro-RO" b="1" dirty="0">
                <a:solidFill>
                  <a:schemeClr val="bg1"/>
                </a:solidFill>
                <a:latin typeface="Century Gothic" panose="020B0502020202020204" pitchFamily="34" charset="0"/>
              </a:rPr>
              <a:t>		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Aplicare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i="1" dirty="0">
                <a:solidFill>
                  <a:schemeClr val="bg1"/>
                </a:solidFill>
                <a:latin typeface="Century Gothic" panose="020B0502020202020204" pitchFamily="34" charset="0"/>
              </a:rPr>
              <a:t>SVD custom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comparare</a:t>
            </a:r>
            <a:r>
              <a:rPr lang="ro-RO" dirty="0">
                <a:solidFill>
                  <a:schemeClr val="bg1"/>
                </a:solidFill>
                <a:latin typeface="Century Gothic" panose="020B0502020202020204" pitchFamily="34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cu </a:t>
            </a:r>
            <a:r>
              <a:rPr lang="en-US" i="1" dirty="0">
                <a:solidFill>
                  <a:schemeClr val="bg1"/>
                </a:solidFill>
                <a:latin typeface="Century Gothic" panose="020B0502020202020204" pitchFamily="34" charset="0"/>
              </a:rPr>
              <a:t>SVD standard</a:t>
            </a:r>
            <a:r>
              <a:rPr lang="ro-RO" i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ro-RO" dirty="0">
                <a:solidFill>
                  <a:schemeClr val="bg1"/>
                </a:solidFill>
                <a:latin typeface="Century Gothic" panose="020B0502020202020204" pitchFamily="34" charset="0"/>
              </a:rPr>
              <a:t>(scipy.sparse.linalg.svds)</a:t>
            </a:r>
          </a:p>
          <a:p>
            <a:r>
              <a:rPr lang="ro-RO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</a:p>
          <a:p>
            <a:pPr marL="342900" indent="-342900">
              <a:buAutoNum type="arabicPeriod" startAt="4"/>
            </a:pP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Predicție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: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endParaRPr lang="ro-RO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ro-RO" dirty="0">
                <a:solidFill>
                  <a:schemeClr val="bg1"/>
                </a:solidFill>
                <a:latin typeface="Century Gothic" panose="020B0502020202020204" pitchFamily="34" charset="0"/>
              </a:rPr>
              <a:t>		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Calculul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rating</a:t>
            </a:r>
            <a:r>
              <a:rPr lang="ro-RO" dirty="0">
                <a:solidFill>
                  <a:schemeClr val="bg1"/>
                </a:solidFill>
                <a:latin typeface="Century Gothic" panose="020B0502020202020204" pitchFamily="34" charset="0"/>
              </a:rPr>
              <a:t>-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urilor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prezise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,</a:t>
            </a:r>
            <a:r>
              <a:rPr lang="ro-RO" dirty="0">
                <a:solidFill>
                  <a:schemeClr val="bg1"/>
                </a:solidFill>
                <a:latin typeface="Century Gothic" panose="020B0502020202020204" pitchFamily="34" charset="0"/>
              </a:rPr>
              <a:t> după formula descrisă anterior</a:t>
            </a:r>
          </a:p>
          <a:p>
            <a:endParaRPr lang="ro-RO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indent="-342900">
              <a:buAutoNum type="arabicPeriod" startAt="5"/>
            </a:pP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Generare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recomandări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: </a:t>
            </a:r>
            <a:endParaRPr lang="ro-RO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ro-RO" b="1" dirty="0">
                <a:solidFill>
                  <a:schemeClr val="bg1"/>
                </a:solidFill>
                <a:latin typeface="Century Gothic" panose="020B0502020202020204" pitchFamily="34" charset="0"/>
              </a:rPr>
              <a:t>		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Lista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cărți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sugerate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utilizatori</a:t>
            </a:r>
            <a:r>
              <a:rPr lang="ro-RO" dirty="0">
                <a:solidFill>
                  <a:schemeClr val="bg1"/>
                </a:solidFill>
                <a:latin typeface="Century Gothic" panose="020B0502020202020204" pitchFamily="34" charset="0"/>
              </a:rPr>
              <a:t> – top 10 recomandări, pe baza predicțiilor / estimărilor de rigoare</a:t>
            </a:r>
            <a:endParaRPr lang="en-US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49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4C3A5A-B0E7-8568-B105-3BE2F2312E06}"/>
              </a:ext>
            </a:extLst>
          </p:cNvPr>
          <p:cNvSpPr/>
          <p:nvPr/>
        </p:nvSpPr>
        <p:spPr>
          <a:xfrm rot="10800000">
            <a:off x="6593840" y="3044873"/>
            <a:ext cx="5527040" cy="1267355"/>
          </a:xfrm>
          <a:prstGeom prst="rect">
            <a:avLst/>
          </a:prstGeom>
          <a:gradFill>
            <a:gsLst>
              <a:gs pos="0">
                <a:schemeClr val="bg1"/>
              </a:gs>
              <a:gs pos="94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0" y="3781082"/>
            <a:ext cx="5151120" cy="1062291"/>
          </a:xfrm>
        </p:spPr>
        <p:txBody>
          <a:bodyPr>
            <a:normAutofit fontScale="90000"/>
          </a:bodyPr>
          <a:lstStyle/>
          <a:p>
            <a:r>
              <a:rPr lang="ro-RO" sz="3200" dirty="0"/>
              <a:t>4 </a:t>
            </a:r>
            <a:r>
              <a:rPr lang="en-US" sz="3200" dirty="0"/>
              <a:t>| </a:t>
            </a:r>
            <a:r>
              <a:rPr lang="en-US" sz="3200" dirty="0" err="1"/>
              <a:t>Interpretarea</a:t>
            </a:r>
            <a:r>
              <a:rPr lang="en-US" sz="3200" dirty="0"/>
              <a:t> </a:t>
            </a:r>
            <a:r>
              <a:rPr lang="en-US" sz="3200" dirty="0" err="1"/>
              <a:t>rezultatelor</a:t>
            </a:r>
            <a:br>
              <a:rPr lang="en-US" sz="3200" dirty="0"/>
            </a:br>
            <a:r>
              <a:rPr lang="en-US" sz="3200" dirty="0" err="1"/>
              <a:t>Matricea</a:t>
            </a:r>
            <a:r>
              <a:rPr lang="en-US" sz="3200" dirty="0"/>
              <a:t> </a:t>
            </a:r>
            <a:r>
              <a:rPr lang="en-US" sz="3200" dirty="0" err="1"/>
              <a:t>rar</a:t>
            </a:r>
            <a:r>
              <a:rPr lang="ro-RO" sz="3200" dirty="0"/>
              <a:t>ă</a:t>
            </a:r>
            <a:r>
              <a:rPr lang="en-US" sz="3200" dirty="0"/>
              <a:t> </a:t>
            </a:r>
            <a:r>
              <a:rPr lang="en-US" sz="3200" dirty="0" err="1"/>
              <a:t>și</a:t>
            </a:r>
            <a:r>
              <a:rPr lang="en-US" sz="3200" dirty="0"/>
              <a:t> </a:t>
            </a:r>
            <a:r>
              <a:rPr lang="en-US" sz="3200" dirty="0" err="1"/>
              <a:t>densitate</a:t>
            </a:r>
            <a:r>
              <a:rPr lang="ro-RO" sz="3200" dirty="0"/>
              <a:t>a</a:t>
            </a:r>
            <a:br>
              <a:rPr lang="en-US" dirty="0"/>
            </a:b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525038" y="1785243"/>
            <a:ext cx="5022689" cy="3831818"/>
          </a:xfrm>
          <a:prstGeom prst="rect">
            <a:avLst/>
          </a:prstGeom>
          <a:solidFill>
            <a:schemeClr val="accent3">
              <a:lumMod val="75000"/>
              <a:alpha val="48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Dimensiunea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matricei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: 17,744 × 15,055.</a:t>
            </a:r>
            <a:endParaRPr lang="ro-RO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Densitatea</a:t>
            </a:r>
            <a:r>
              <a:rPr lang="ro-RO" b="1" dirty="0">
                <a:solidFill>
                  <a:schemeClr val="bg1"/>
                </a:solidFill>
                <a:latin typeface="Century Gothic" panose="020B0502020202020204" pitchFamily="34" charset="0"/>
              </a:rPr>
              <a:t> (proporția de elemente nenule din matrice, raportată la numărul total de elemente)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: 0.15% (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foarte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rară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).</a:t>
            </a:r>
            <a:endParaRPr lang="ro-RO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Interpretare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:</a:t>
            </a:r>
            <a:endParaRPr lang="ro-RO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o-RO" b="1" dirty="0">
                <a:solidFill>
                  <a:schemeClr val="bg1"/>
                </a:solidFill>
                <a:latin typeface="Century Gothic" panose="020B0502020202020204" pitchFamily="34" charset="0"/>
              </a:rPr>
              <a:t>		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Matricea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conține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multe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i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celule</a:t>
            </a:r>
            <a:r>
              <a:rPr lang="en-US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goale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(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ratinguri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lipsă</a:t>
            </a:r>
            <a:r>
              <a:rPr lang="ro-RO" b="1" dirty="0">
                <a:solidFill>
                  <a:schemeClr val="bg1"/>
                </a:solidFill>
                <a:latin typeface="Century Gothic" panose="020B0502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ro-RO" b="1" dirty="0">
                <a:solidFill>
                  <a:schemeClr val="bg1"/>
                </a:solidFill>
                <a:latin typeface="Century Gothic" panose="020B0502020202020204" pitchFamily="34" charset="0"/>
              </a:rPr>
              <a:t>		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Metodele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de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completare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precum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SVD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sunt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esențiale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pentru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acest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tip de date.</a:t>
            </a:r>
            <a:endParaRPr lang="ro-RO" sz="1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065917"/>
      </p:ext>
    </p:extLst>
  </p:cSld>
  <p:clrMapOvr>
    <a:masterClrMapping/>
  </p:clrMapOvr>
  <p:transition spd="slow">
    <p:cover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4C3A5A-B0E7-8568-B105-3BE2F2312E06}"/>
              </a:ext>
            </a:extLst>
          </p:cNvPr>
          <p:cNvSpPr/>
          <p:nvPr/>
        </p:nvSpPr>
        <p:spPr>
          <a:xfrm rot="10800000">
            <a:off x="6664960" y="149273"/>
            <a:ext cx="5527040" cy="1267355"/>
          </a:xfrm>
          <a:prstGeom prst="rect">
            <a:avLst/>
          </a:prstGeom>
          <a:gradFill>
            <a:gsLst>
              <a:gs pos="0">
                <a:schemeClr val="bg1"/>
              </a:gs>
              <a:gs pos="94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3961" y="1523633"/>
            <a:ext cx="5339079" cy="1062291"/>
          </a:xfrm>
        </p:spPr>
        <p:txBody>
          <a:bodyPr>
            <a:normAutofit fontScale="90000"/>
          </a:bodyPr>
          <a:lstStyle/>
          <a:p>
            <a:pPr algn="ctr"/>
            <a:r>
              <a:rPr lang="ro-RO" sz="3200" dirty="0">
                <a:solidFill>
                  <a:srgbClr val="17406D"/>
                </a:solidFill>
                <a:latin typeface="Century Gothic" panose="020B0502020202020204" pitchFamily="34" charset="0"/>
              </a:rPr>
              <a:t>4 </a:t>
            </a:r>
            <a:r>
              <a:rPr lang="en-US" sz="3200" dirty="0">
                <a:solidFill>
                  <a:srgbClr val="17406D"/>
                </a:solidFill>
                <a:latin typeface="Century Gothic" panose="020B0502020202020204" pitchFamily="34" charset="0"/>
              </a:rPr>
              <a:t>| </a:t>
            </a:r>
            <a:r>
              <a:rPr lang="en-US" sz="3200" dirty="0" err="1">
                <a:solidFill>
                  <a:srgbClr val="17406D"/>
                </a:solidFill>
                <a:latin typeface="Century Gothic" panose="020B0502020202020204" pitchFamily="34" charset="0"/>
              </a:rPr>
              <a:t>Interpretarea</a:t>
            </a:r>
            <a:r>
              <a:rPr lang="en-US" sz="3200" dirty="0">
                <a:solidFill>
                  <a:srgbClr val="17406D"/>
                </a:solidFill>
                <a:latin typeface="Century Gothic" panose="020B0502020202020204" pitchFamily="34" charset="0"/>
              </a:rPr>
              <a:t> </a:t>
            </a:r>
            <a:r>
              <a:rPr lang="en-US" sz="3200" dirty="0" err="1">
                <a:solidFill>
                  <a:srgbClr val="17406D"/>
                </a:solidFill>
                <a:latin typeface="Century Gothic" panose="020B0502020202020204" pitchFamily="34" charset="0"/>
              </a:rPr>
              <a:t>rezultatelor</a:t>
            </a:r>
            <a:br>
              <a:rPr lang="en-US" dirty="0">
                <a:solidFill>
                  <a:srgbClr val="17406D"/>
                </a:solidFill>
                <a:latin typeface="Century Gothic" panose="020B0502020202020204" pitchFamily="34" charset="0"/>
              </a:rPr>
            </a:br>
            <a:endParaRPr lang="en-US" dirty="0">
              <a:solidFill>
                <a:srgbClr val="17406D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02154" y="1853812"/>
            <a:ext cx="5052641" cy="3231654"/>
          </a:xfrm>
          <a:prstGeom prst="rect">
            <a:avLst/>
          </a:prstGeom>
          <a:solidFill>
            <a:schemeClr val="accent3">
              <a:lumMod val="75000"/>
              <a:alpha val="48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Valorile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singulare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:</a:t>
            </a:r>
            <a:r>
              <a:rPr lang="ro-RO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Diferența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medie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: ≈10</a:t>
            </a:r>
            <a:r>
              <a:rPr lang="en-US" sz="1700" b="1" baseline="30000" dirty="0">
                <a:solidFill>
                  <a:schemeClr val="bg1"/>
                </a:solidFill>
                <a:latin typeface="Century Gothic" panose="020B0502020202020204" pitchFamily="34" charset="0"/>
              </a:rPr>
              <a:t>−4 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</a:t>
            </a:r>
            <a:r>
              <a:rPr lang="ro-RO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aproape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insignifiantă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)</a:t>
            </a:r>
            <a:endParaRPr lang="ro-RO" sz="17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Norma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Frobenius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a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diferențelor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:</a:t>
            </a:r>
            <a:r>
              <a:rPr lang="ro-RO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𝑈: ≈</a:t>
            </a:r>
            <a:r>
              <a:rPr lang="ro-RO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10;</a:t>
            </a:r>
            <a:r>
              <a:rPr lang="ro-RO" sz="1700" b="1" baseline="300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𝑉</a:t>
            </a:r>
            <a:r>
              <a:rPr lang="en-US" sz="1700" b="1" baseline="30000" dirty="0">
                <a:solidFill>
                  <a:schemeClr val="bg1"/>
                </a:solidFill>
                <a:latin typeface="Century Gothic" panose="020B0502020202020204" pitchFamily="34" charset="0"/>
              </a:rPr>
              <a:t>𝑇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: ≈</a:t>
            </a:r>
            <a:r>
              <a:rPr lang="ro-RO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10 (</a:t>
            </a:r>
            <a:r>
              <a:rPr lang="ro-RO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redusă,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poate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oscila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, </a:t>
            </a:r>
            <a:r>
              <a:rPr lang="ro-RO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în funcție de caz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ul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tratat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–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adic</a:t>
            </a:r>
            <a:r>
              <a:rPr lang="ro-RO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ă de utilizatorul selectat)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. </a:t>
            </a:r>
            <a:endParaRPr lang="ro-RO" sz="17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Interpretare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:</a:t>
            </a:r>
            <a:r>
              <a:rPr lang="ro-RO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Rezultatele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sunt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aproape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identice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între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implementarea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ro-RO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noastră de  SVD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și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7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cea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standard</a:t>
            </a:r>
            <a:r>
              <a:rPr lang="ro-RO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, din python</a:t>
            </a:r>
            <a:r>
              <a:rPr lang="en-US" sz="1700" b="1" dirty="0">
                <a:solidFill>
                  <a:schemeClr val="bg1"/>
                </a:solidFill>
                <a:latin typeface="Century Gothic" panose="020B0502020202020204" pitchFamily="34" charset="0"/>
              </a:rPr>
              <a:t>.</a:t>
            </a:r>
            <a:endParaRPr lang="ro-RO" sz="17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00" y="335477"/>
            <a:ext cx="5477639" cy="6268325"/>
          </a:xfrm>
          <a:prstGeom prst="rect">
            <a:avLst/>
          </a:prstGeom>
          <a:ln w="76200">
            <a:solidFill>
              <a:srgbClr val="6DCBE0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7882217" y="5085466"/>
            <a:ext cx="3092513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900" b="1" dirty="0">
                <a:solidFill>
                  <a:srgbClr val="17406D"/>
                </a:solidFill>
                <a:latin typeface="Century Gothic" panose="020B0502020202020204" pitchFamily="34" charset="0"/>
              </a:rPr>
              <a:t>Comparare DVS</a:t>
            </a:r>
            <a:endParaRPr lang="en-US" sz="29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27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937" y="854998"/>
            <a:ext cx="5339079" cy="1062291"/>
          </a:xfrm>
        </p:spPr>
        <p:txBody>
          <a:bodyPr>
            <a:normAutofit fontScale="90000"/>
          </a:bodyPr>
          <a:lstStyle/>
          <a:p>
            <a:pPr algn="ctr"/>
            <a:r>
              <a:rPr lang="ro-RO" sz="3200" dirty="0">
                <a:solidFill>
                  <a:srgbClr val="17406D"/>
                </a:solidFill>
                <a:latin typeface="Century Gothic" panose="020B0502020202020204" pitchFamily="34" charset="0"/>
              </a:rPr>
              <a:t>4 </a:t>
            </a:r>
            <a:r>
              <a:rPr lang="en-US" sz="3200" dirty="0">
                <a:solidFill>
                  <a:srgbClr val="17406D"/>
                </a:solidFill>
                <a:latin typeface="Century Gothic" panose="020B0502020202020204" pitchFamily="34" charset="0"/>
              </a:rPr>
              <a:t>| </a:t>
            </a:r>
            <a:r>
              <a:rPr lang="en-US" sz="3200" dirty="0" err="1">
                <a:solidFill>
                  <a:srgbClr val="17406D"/>
                </a:solidFill>
                <a:latin typeface="Century Gothic" panose="020B0502020202020204" pitchFamily="34" charset="0"/>
              </a:rPr>
              <a:t>Interpretarea</a:t>
            </a:r>
            <a:r>
              <a:rPr lang="en-US" sz="3200" dirty="0">
                <a:solidFill>
                  <a:srgbClr val="17406D"/>
                </a:solidFill>
                <a:latin typeface="Century Gothic" panose="020B0502020202020204" pitchFamily="34" charset="0"/>
              </a:rPr>
              <a:t> </a:t>
            </a:r>
            <a:r>
              <a:rPr lang="en-US" sz="3200" dirty="0" err="1">
                <a:solidFill>
                  <a:srgbClr val="17406D"/>
                </a:solidFill>
                <a:latin typeface="Century Gothic" panose="020B0502020202020204" pitchFamily="34" charset="0"/>
              </a:rPr>
              <a:t>rezultatelor</a:t>
            </a:r>
            <a:br>
              <a:rPr lang="en-US" dirty="0">
                <a:solidFill>
                  <a:srgbClr val="17406D"/>
                </a:solidFill>
                <a:latin typeface="Century Gothic" panose="020B0502020202020204" pitchFamily="34" charset="0"/>
              </a:rPr>
            </a:br>
            <a:endParaRPr lang="en-US" dirty="0">
              <a:solidFill>
                <a:srgbClr val="17406D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19519" y="1191674"/>
            <a:ext cx="5778497" cy="4555927"/>
          </a:xfrm>
          <a:prstGeom prst="rect">
            <a:avLst/>
          </a:prstGeom>
          <a:solidFill>
            <a:schemeClr val="accent3">
              <a:lumMod val="75000"/>
              <a:alpha val="48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Graficul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distribuției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: (</a:t>
            </a:r>
            <a:r>
              <a:rPr lang="ro-RO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Frecvența / modul de prezicere al rating-ului pentru restul cărților neevaluate de către utilizatorul selectat din listă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)</a:t>
            </a:r>
            <a:endParaRPr lang="ro-RO" sz="15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o-RO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		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Majoritatea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ratingurilor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prezise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sunt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între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3.5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și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7.5 (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cel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mai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mare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num</a:t>
            </a:r>
            <a:r>
              <a:rPr lang="ro-RO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âr de rating-uri acordate la nivel general, valabil pentru toți userii – se observă că în graficul din stânga, pentru acest user, rating-ul predominant e extrem de mic – de pe urma unor evaluări mai critice a cărților)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.</a:t>
            </a:r>
            <a:endParaRPr lang="ro-RO" sz="15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o-RO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		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Evitarea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extremelor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(rating</a:t>
            </a:r>
            <a:r>
              <a:rPr lang="ro-RO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-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uri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de 1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sau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10).</a:t>
            </a:r>
            <a:endParaRPr lang="ro-RO" sz="15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 startAt="2"/>
            </a:pP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Interpretare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:</a:t>
            </a:r>
            <a:endParaRPr lang="ro-RO" sz="15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o-RO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		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Distribuția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este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echilibrată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,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indicând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o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bună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funcționare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a </a:t>
            </a:r>
            <a:r>
              <a:rPr lang="en-US" sz="15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algoritmului</a:t>
            </a:r>
            <a:r>
              <a:rPr lang="en-US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.</a:t>
            </a:r>
            <a:r>
              <a:rPr lang="ro-RO" sz="15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Pe baza acesteia, se determină primele 10 recomandări după predicția descrescătoare.</a:t>
            </a:r>
            <a:endParaRPr lang="ro-RO" sz="15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872179" y="5707170"/>
            <a:ext cx="4225837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900" b="1" dirty="0">
                <a:solidFill>
                  <a:srgbClr val="17406D"/>
                </a:solidFill>
                <a:latin typeface="Century Gothic" panose="020B0502020202020204" pitchFamily="34" charset="0"/>
              </a:rPr>
              <a:t>Distribuția rating-urilor</a:t>
            </a:r>
            <a:endParaRPr lang="en-US" sz="2900" b="1" dirty="0">
              <a:latin typeface="Century Gothic" panose="020B0502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154391"/>
            <a:ext cx="6032386" cy="4630494"/>
          </a:xfrm>
          <a:prstGeom prst="rect">
            <a:avLst/>
          </a:prstGeom>
          <a:ln w="76200">
            <a:solidFill>
              <a:srgbClr val="6DCBE0"/>
            </a:solidFill>
          </a:ln>
        </p:spPr>
      </p:pic>
    </p:spTree>
    <p:extLst>
      <p:ext uri="{BB962C8B-B14F-4D97-AF65-F5344CB8AC3E}">
        <p14:creationId xmlns:p14="http://schemas.microsoft.com/office/powerpoint/2010/main" val="2263694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1497" y="2201916"/>
            <a:ext cx="5339079" cy="1062291"/>
          </a:xfrm>
        </p:spPr>
        <p:txBody>
          <a:bodyPr>
            <a:normAutofit fontScale="90000"/>
          </a:bodyPr>
          <a:lstStyle/>
          <a:p>
            <a:pPr algn="ctr"/>
            <a:r>
              <a:rPr lang="ro-RO" sz="3100" dirty="0">
                <a:solidFill>
                  <a:srgbClr val="17406D"/>
                </a:solidFill>
                <a:latin typeface="Century Gothic" panose="020B0502020202020204" pitchFamily="34" charset="0"/>
              </a:rPr>
              <a:t>4 </a:t>
            </a:r>
            <a:r>
              <a:rPr lang="en-US" sz="3100" dirty="0">
                <a:solidFill>
                  <a:srgbClr val="17406D"/>
                </a:solidFill>
                <a:latin typeface="Century Gothic" panose="020B0502020202020204" pitchFamily="34" charset="0"/>
              </a:rPr>
              <a:t>| </a:t>
            </a:r>
            <a:r>
              <a:rPr lang="en-US" sz="3100" dirty="0" err="1">
                <a:solidFill>
                  <a:srgbClr val="17406D"/>
                </a:solidFill>
                <a:latin typeface="Century Gothic" panose="020B0502020202020204" pitchFamily="34" charset="0"/>
              </a:rPr>
              <a:t>Interpretarea</a:t>
            </a:r>
            <a:r>
              <a:rPr lang="en-US" sz="3100" dirty="0">
                <a:solidFill>
                  <a:srgbClr val="17406D"/>
                </a:solidFill>
                <a:latin typeface="Century Gothic" panose="020B0502020202020204" pitchFamily="34" charset="0"/>
              </a:rPr>
              <a:t> </a:t>
            </a:r>
            <a:r>
              <a:rPr lang="en-US" sz="3100" dirty="0" err="1">
                <a:solidFill>
                  <a:srgbClr val="17406D"/>
                </a:solidFill>
                <a:latin typeface="Century Gothic" panose="020B0502020202020204" pitchFamily="34" charset="0"/>
              </a:rPr>
              <a:t>rezultatelor</a:t>
            </a:r>
            <a:br>
              <a:rPr lang="en-US" dirty="0">
                <a:solidFill>
                  <a:srgbClr val="17406D"/>
                </a:solidFill>
                <a:latin typeface="Century Gothic" panose="020B0502020202020204" pitchFamily="34" charset="0"/>
              </a:rPr>
            </a:br>
            <a:endParaRPr lang="en-US" dirty="0">
              <a:solidFill>
                <a:srgbClr val="17406D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50075" y="2618391"/>
            <a:ext cx="5941925" cy="1754326"/>
          </a:xfrm>
          <a:prstGeom prst="rect">
            <a:avLst/>
          </a:prstGeom>
          <a:solidFill>
            <a:schemeClr val="accent3">
              <a:lumMod val="75000"/>
              <a:alpha val="48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Recomandările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sunt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relevante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și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populare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.</a:t>
            </a:r>
            <a:r>
              <a:rPr lang="ro-RO" b="1" dirty="0">
                <a:solidFill>
                  <a:schemeClr val="bg1"/>
                </a:solidFill>
                <a:latin typeface="Century Gothic" panose="020B0502020202020204" pitchFamily="34" charset="0"/>
              </a:rPr>
              <a:t> Se poate observa că, în funcție de datele graficului, se generează lista primelor 10 filme recomandate, bazate pe predicția de apreciere a acestora.</a:t>
            </a:r>
            <a:endParaRPr lang="ro-RO" sz="1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78787" y="4472531"/>
            <a:ext cx="6229590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>
                <a:solidFill>
                  <a:srgbClr val="17406D"/>
                </a:solidFill>
                <a:latin typeface="Century Gothic" panose="020B0502020202020204" pitchFamily="34" charset="0"/>
              </a:rPr>
              <a:t>Legătura predicție - recomandări</a:t>
            </a:r>
            <a:endParaRPr lang="en-US" sz="2800" b="1" dirty="0">
              <a:latin typeface="Century Gothic" panose="020B0502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98" y="578734"/>
            <a:ext cx="6023351" cy="5833640"/>
          </a:xfrm>
          <a:prstGeom prst="rect">
            <a:avLst/>
          </a:prstGeom>
          <a:ln w="76200">
            <a:solidFill>
              <a:srgbClr val="6DCBE0"/>
            </a:solidFill>
          </a:ln>
        </p:spPr>
      </p:pic>
    </p:spTree>
    <p:extLst>
      <p:ext uri="{BB962C8B-B14F-4D97-AF65-F5344CB8AC3E}">
        <p14:creationId xmlns:p14="http://schemas.microsoft.com/office/powerpoint/2010/main" val="4151271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B0EC53-36AE-05CE-6081-DA731C027B1E}"/>
              </a:ext>
            </a:extLst>
          </p:cNvPr>
          <p:cNvSpPr/>
          <p:nvPr/>
        </p:nvSpPr>
        <p:spPr>
          <a:xfrm rot="10800000">
            <a:off x="0" y="4779146"/>
            <a:ext cx="12192000" cy="1050696"/>
          </a:xfrm>
          <a:prstGeom prst="rect">
            <a:avLst/>
          </a:prstGeom>
          <a:gradFill>
            <a:gsLst>
              <a:gs pos="0">
                <a:schemeClr val="bg1"/>
              </a:gs>
              <a:gs pos="94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ACB435-CC94-4A79-91D6-FFCD67E9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8354" y="4779146"/>
            <a:ext cx="5257800" cy="958623"/>
          </a:xfrm>
        </p:spPr>
        <p:txBody>
          <a:bodyPr/>
          <a:lstStyle/>
          <a:p>
            <a:r>
              <a:rPr lang="ro-RO" dirty="0"/>
              <a:t>5 </a:t>
            </a:r>
            <a:r>
              <a:rPr lang="en-US" dirty="0"/>
              <a:t>| </a:t>
            </a:r>
            <a:r>
              <a:rPr lang="en-US" dirty="0" err="1"/>
              <a:t>Concluzii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8E58-1DFD-4153-BE18-AC20F7B4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2B7600-67E3-4D97-B453-880E2742B9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7406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1" y="1913537"/>
            <a:ext cx="12192000" cy="209288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ffectLst>
            <a:glow>
              <a:schemeClr val="accent1">
                <a:alpha val="69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Rezultate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obținute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7406D"/>
              </a:solidFill>
              <a:effectLst/>
              <a:latin typeface="Arial" panose="020B0604020202020204" pitchFamily="34" charset="0"/>
            </a:endParaRPr>
          </a:p>
          <a:p>
            <a:pPr lvl="1" algn="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Sistemul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poate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prezice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rating</a:t>
            </a:r>
            <a:r>
              <a:rPr kumimoji="0" lang="ro-RO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uri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acuratețe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poate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genera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recomandări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personalizate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algn="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SVD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este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algoritm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eficient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factorizarea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matricilor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sparse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algn="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7406D"/>
              </a:solidFill>
              <a:effectLst/>
              <a:latin typeface="Arial" panose="020B0604020202020204" pitchFamily="34" charset="0"/>
            </a:endParaRPr>
          </a:p>
          <a:p>
            <a:pPr lvl="1" algn="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Limitări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7406D"/>
              </a:solidFill>
              <a:effectLst/>
              <a:latin typeface="Arial" panose="020B0604020202020204" pitchFamily="34" charset="0"/>
            </a:endParaRPr>
          </a:p>
          <a:p>
            <a:pPr lvl="1" algn="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Densitatea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scăzută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datelor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poate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afecta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acuratețea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algn="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Scalabilitatea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poate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fi 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problemă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seturi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de date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foarte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mari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timpi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execu</a:t>
            </a:r>
            <a:r>
              <a:rPr lang="ro-RO" altLang="en-US" dirty="0">
                <a:solidFill>
                  <a:srgbClr val="17406D"/>
                </a:solidFill>
                <a:latin typeface="Arial" panose="020B0604020202020204" pitchFamily="34" charset="0"/>
              </a:rPr>
              <a:t>ție crescuți)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406D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086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4" t="8656" r="3788"/>
          <a:stretch/>
        </p:blipFill>
        <p:spPr>
          <a:xfrm>
            <a:off x="0" y="-18474"/>
            <a:ext cx="12192000" cy="6918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66440" y="2368985"/>
            <a:ext cx="3667125" cy="584775"/>
          </a:xfrm>
          <a:prstGeom prst="rect">
            <a:avLst/>
          </a:prstGeom>
          <a:solidFill>
            <a:srgbClr val="1891AF">
              <a:alpha val="3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V</a:t>
            </a:r>
            <a:r>
              <a:rPr lang="ro-RO" sz="32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ă mulțumim!</a:t>
            </a:r>
            <a:endParaRPr lang="en-US" sz="32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79854" y="985830"/>
            <a:ext cx="1716521" cy="338554"/>
          </a:xfrm>
          <a:prstGeom prst="rect">
            <a:avLst/>
          </a:prstGeom>
          <a:solidFill>
            <a:srgbClr val="1891AF">
              <a:alpha val="48000"/>
            </a:srgbClr>
          </a:solidFill>
          <a:ln>
            <a:solidFill>
              <a:srgbClr val="6DCBE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Lican</a:t>
            </a:r>
            <a:r>
              <a:rPr lang="en-US" sz="1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ro-RO" sz="1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Ștefăniță</a:t>
            </a:r>
            <a:endParaRPr lang="en-US" sz="1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12654" y="981060"/>
            <a:ext cx="1745096" cy="338554"/>
          </a:xfrm>
          <a:prstGeom prst="rect">
            <a:avLst/>
          </a:prstGeom>
          <a:solidFill>
            <a:srgbClr val="1891AF">
              <a:alpha val="48000"/>
            </a:srgbClr>
          </a:solidFill>
          <a:ln>
            <a:solidFill>
              <a:srgbClr val="6DCBE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o-RO" sz="1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Bălălău Andrei</a:t>
            </a:r>
            <a:endParaRPr lang="en-US" sz="1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32069" y="3876698"/>
            <a:ext cx="707392" cy="276999"/>
          </a:xfrm>
          <a:prstGeom prst="rect">
            <a:avLst/>
          </a:prstGeom>
          <a:solidFill>
            <a:srgbClr val="1891AF">
              <a:alpha val="48000"/>
            </a:srgbClr>
          </a:solidFill>
          <a:ln>
            <a:solidFill>
              <a:srgbClr val="6DCBE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o-RO" sz="12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321AC</a:t>
            </a:r>
            <a:endParaRPr lang="en-US" sz="12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89754" y="1247217"/>
            <a:ext cx="890386" cy="338554"/>
          </a:xfrm>
          <a:prstGeom prst="rect">
            <a:avLst/>
          </a:prstGeom>
          <a:solidFill>
            <a:srgbClr val="1891AF">
              <a:alpha val="30000"/>
            </a:srgbClr>
          </a:solidFill>
          <a:ln>
            <a:solidFill>
              <a:srgbClr val="6DCBE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1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33737" y="3440544"/>
            <a:ext cx="890386" cy="338554"/>
          </a:xfrm>
          <a:prstGeom prst="rect">
            <a:avLst/>
          </a:prstGeom>
          <a:solidFill>
            <a:srgbClr val="1891AF">
              <a:alpha val="38000"/>
            </a:srgbClr>
          </a:solidFill>
          <a:ln>
            <a:solidFill>
              <a:srgbClr val="6DCBE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1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68416" y="3398545"/>
            <a:ext cx="890386" cy="338554"/>
          </a:xfrm>
          <a:prstGeom prst="rect">
            <a:avLst/>
          </a:prstGeom>
          <a:solidFill>
            <a:srgbClr val="1891AF">
              <a:alpha val="38000"/>
            </a:srgbClr>
          </a:solidFill>
          <a:ln>
            <a:solidFill>
              <a:srgbClr val="6DCBE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1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695883"/>
      </p:ext>
    </p:extLst>
  </p:cSld>
  <p:clrMapOvr>
    <a:masterClrMapping/>
  </p:clrMapOvr>
  <p:transition>
    <p:wipe dir="u"/>
  </p:transition>
</p:sld>
</file>

<file path=ppt/theme/theme1.xml><?xml version="1.0" encoding="utf-8"?>
<a:theme xmlns:a="http://schemas.openxmlformats.org/drawingml/2006/main" name="PresentationGO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59_T_PGO_Digital-Lattice.pptx" id="{DC4A0103-A7D8-4096-BE8E-8523561A1DFA}" vid="{AD9A7758-3F70-4165-994B-C3478F8A4CBC}"/>
    </a:ext>
  </a:extLst>
</a:theme>
</file>

<file path=ppt/theme/theme2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59_T_PGO_Digital-Lattice.pptx" id="{DC4A0103-A7D8-4096-BE8E-8523561A1DFA}" vid="{B8110300-E4AF-42F6-9622-BD2B69D053D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0359_T_PGO_Digital-Lattice</Template>
  <TotalTime>273</TotalTime>
  <Words>914</Words>
  <Application>Microsoft Office PowerPoint</Application>
  <PresentationFormat>Widescreen</PresentationFormat>
  <Paragraphs>125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Century Gothic</vt:lpstr>
      <vt:lpstr>Wingdings</vt:lpstr>
      <vt:lpstr>PresentationGO</vt:lpstr>
      <vt:lpstr>Designed by PresentationGO</vt:lpstr>
      <vt:lpstr>PowerPoint Presentation</vt:lpstr>
      <vt:lpstr>Cuprins</vt:lpstr>
      <vt:lpstr>1 | Introducere</vt:lpstr>
      <vt:lpstr>1 | Introducere</vt:lpstr>
      <vt:lpstr>2 | Arhitectura aplicației</vt:lpstr>
      <vt:lpstr>2 | Seturi de date și procesări</vt:lpstr>
      <vt:lpstr>3 | Implementare - formule matematice</vt:lpstr>
      <vt:lpstr>3 | Implementarea practică - Etape</vt:lpstr>
      <vt:lpstr>4 | Interpretarea rezultatelor Matricea rară și densitatea </vt:lpstr>
      <vt:lpstr>4 | Interpretarea rezultatelor </vt:lpstr>
      <vt:lpstr>4 | Interpretarea rezultatelor </vt:lpstr>
      <vt:lpstr>4 | Interpretarea rezultatelor </vt:lpstr>
      <vt:lpstr>5 | Concluzii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dc:description>© Copyright PresentationGo.com</dc:description>
  <cp:lastModifiedBy>Andrei-Valentin BĂLĂLĂU (140441)</cp:lastModifiedBy>
  <cp:revision>38</cp:revision>
  <dcterms:created xsi:type="dcterms:W3CDTF">2025-01-16T02:56:51Z</dcterms:created>
  <dcterms:modified xsi:type="dcterms:W3CDTF">2025-11-16T21:47:15Z</dcterms:modified>
  <cp:category>Templates</cp:category>
</cp:coreProperties>
</file>